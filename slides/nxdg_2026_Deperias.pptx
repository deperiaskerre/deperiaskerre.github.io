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5D3ED2-8864-4DD6-A3F8-C2211C0978B4}" type="datetimeFigureOut">
              <a:rPr lang="en-BE" smtClean="0"/>
              <a:t>08/09/2026</a:t>
            </a:fld>
            <a:endParaRPr lang="en-B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8D2CC-85FC-47EA-B96A-383D32595225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59742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14923-E2FB-4ACC-79FD-439B546EE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83CEB-8EB4-CAEB-0771-1A489BD22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7359A-C251-2C75-600C-6E85D0C2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dirty="0"/>
              <a:t>15/09/2026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A15F1-8935-7524-4C62-68A22909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NXDG 2026 -Ghent, Belgium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6DEDC-2873-B442-B798-7098907F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35091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8B81-E84E-D385-F913-9C974A14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3C75D-FEF9-BF98-8DC9-9B096A218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778ED-C81C-3C99-0599-359CCBC46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dirty="0"/>
              <a:t>15/09/2026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952A2-2A78-E186-AB4F-9D487FA5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NXDG 2026 -Ghent, Belgium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697A9-F891-C036-5D26-2A49E14D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3694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187F7-A96C-E5F9-AC60-054C6CF86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D9AD9-D93B-B575-001E-46A9C547A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EC426-EC0A-E655-D5C5-03DF011C3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dirty="0"/>
              <a:t>15/09/2026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EB05E-E155-01DD-AB6B-A51BFBF2D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NXDG 2026 -Ghent, Belgium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7ECB6-C8BB-BF32-A5E5-93349387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3964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C05A-883C-0DA9-45A8-03E154C6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3233-0FA4-6E33-E10F-9B4BFB2121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DC038-2822-A47B-FF56-C0A688CD4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C1E7C-F5F2-7FF7-48D8-5D6C507B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dirty="0"/>
              <a:t>15/09/2026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418A1-3DF3-173F-C567-77E167573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NXDG 2026 -Ghent, Belgium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EAF81-0EDE-400B-87CF-59181EE8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706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69AB4-DDA6-46CA-9D9D-1C3E21061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A03E9-5D82-481F-AA7C-98ADAEAB4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65394-A9C6-4B68-0C0C-10C1930D8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343CBB-A671-7347-EFCE-105204B2B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F5D920-189A-DF4A-6A9B-7EC043451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BDFD9-1D68-EBAB-0C7B-08298DB7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dirty="0"/>
              <a:t>15/09/2026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9FDC7-BF7C-159B-51B7-136AF411D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NXDG 2026 -Ghent, Belgium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C2DB11-F90D-EBEF-6AD9-979A8B95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82496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E564-D0F3-E21B-0729-B35D5EF5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468FC2-3E77-DCD4-8135-9A01FE8B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dirty="0"/>
              <a:t>15/09/2026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4E358-5856-604C-29E2-D92C91AF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NXDG 2026 -Ghent, Belgium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E49DC-1723-3D31-45A9-DF004E50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E60EF-3E87-5204-05FD-6F9079666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dirty="0"/>
              <a:t>15/09/2026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0C9F1-AEF3-F91D-1430-ED271EF9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NXDG 2026 -Ghent, Belgium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41A91-5B1A-463E-E68A-75BB5CEBD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964264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AE2C-C282-8F83-C799-27643C56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21686-FE86-DDA6-5CA5-10B8787B8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E55E3-5FD5-3D8C-563F-B0DE632DE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70F9D-0C45-5D6A-7099-C5780106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dirty="0"/>
              <a:t>15/09/2026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993D7-1A6F-B176-A548-4023A9A1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NXDG 2026 -Ghent, Belgium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2C3D3-A001-A700-1224-A8105BE0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8630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54D77-13C7-3336-1AD8-18DC8910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CA0EC7-4E14-1710-AFC1-3ECE4F3D0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DCA56-5CD7-D66B-2648-73C9990A7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8D3BB-4613-944A-E85C-B49536856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dirty="0"/>
              <a:t>15/09/2026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26CF1-5C3F-2F4A-71ED-5D56F502C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NXDG 2026 -Ghent, Belgium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D0E8D-25F9-3DB1-62D8-CADF67CF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71205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6BB7-562D-77E7-C1A6-35F386818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6BC80-2E0B-8B1A-6F9F-4879C13FF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211C4-00FB-2EB7-7037-E6EDE275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dirty="0"/>
              <a:t>15/09/2026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51826-0B7A-5DFA-388C-0FD91FFA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NXDG 2026 -Ghent, Belgium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0495C-E582-1B2F-C198-70057392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507063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DBC8DF-AF8C-F37C-AC0E-85D650E25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71574-112E-231D-2092-ECAB9A3EE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53D28-9374-007D-FE6E-D0F636F40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dirty="0"/>
              <a:t>15/09/2026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46C6A-8616-86CC-11FB-96EF6EB5C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NXDG 2026 -Ghent, Belgium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2915F-BEA7-2C61-86FE-AA042D37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57844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26B83-F3CA-9E1D-1CCF-E8C3715F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76063-D28E-CE04-9CD5-0B7D845F1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9E072-40DF-341A-BEDA-653CF46F4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BE" dirty="0"/>
              <a:t>15/09/2026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35372-1EC6-FF84-D406-6E495914A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 dirty="0"/>
              <a:t>NXDG 2026 -Ghent, Belgium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C4262-4F1B-99A7-D3D4-230EC2D9B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CF0F1-4288-4E20-A5EE-551BC0760B6A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47471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399E-6433-2D69-6DD0-BE75FF6CB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0635" y="661734"/>
            <a:ext cx="10264878" cy="993823"/>
          </a:xfrm>
        </p:spPr>
        <p:txBody>
          <a:bodyPr>
            <a:normAutofit/>
          </a:bodyPr>
          <a:lstStyle/>
          <a:p>
            <a:pPr algn="l"/>
            <a:r>
              <a:rPr lang="en-GB" sz="2800" b="1" dirty="0">
                <a:solidFill>
                  <a:srgbClr val="002060"/>
                </a:solidFill>
                <a:latin typeface="Abadi ExtraLight" panose="020F0502020204030204" pitchFamily="34" charset="0"/>
              </a:rPr>
              <a:t>Are the Provided Keywords on Open Data Portals Semantically Complete and Relevant? An Exploratory Study</a:t>
            </a:r>
            <a:endParaRPr lang="en-BE" sz="2800" b="1" dirty="0">
              <a:solidFill>
                <a:srgbClr val="002060"/>
              </a:solidFill>
              <a:latin typeface="Abadi ExtraLight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50AE7-BF28-379A-4C56-04BB27203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39" y="2399070"/>
            <a:ext cx="10982632" cy="2231436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Deperias Kerre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Christophe Debruyne</a:t>
            </a:r>
          </a:p>
          <a:p>
            <a:endParaRPr lang="en-BE" dirty="0"/>
          </a:p>
          <a:p>
            <a:r>
              <a:rPr lang="en-GB" dirty="0">
                <a:solidFill>
                  <a:srgbClr val="C00000"/>
                </a:solidFill>
              </a:rPr>
              <a:t>3</a:t>
            </a:r>
            <a:r>
              <a:rPr lang="en-GB" baseline="30000" dirty="0">
                <a:solidFill>
                  <a:srgbClr val="C00000"/>
                </a:solidFill>
              </a:rPr>
              <a:t>rd</a:t>
            </a:r>
            <a:r>
              <a:rPr lang="en-GB" dirty="0">
                <a:solidFill>
                  <a:srgbClr val="C00000"/>
                </a:solidFill>
              </a:rPr>
              <a:t>  NeXt-generation Data Governance workshop 2026 (NXDG 2026), co-located with SEMANTiCS 2026</a:t>
            </a:r>
          </a:p>
          <a:p>
            <a:endParaRPr lang="en-GB" dirty="0"/>
          </a:p>
          <a:p>
            <a:r>
              <a:rPr lang="en-GB" dirty="0"/>
              <a:t>Ghent, Belgium, September 15, 2026</a:t>
            </a:r>
            <a:endParaRPr lang="en-BE" dirty="0"/>
          </a:p>
        </p:txBody>
      </p:sp>
      <p:pic>
        <p:nvPicPr>
          <p:cNvPr id="6" name="Google Shape;71;p17">
            <a:extLst>
              <a:ext uri="{FF2B5EF4-FFF2-40B4-BE49-F238E27FC236}">
                <a16:creationId xmlns:a16="http://schemas.microsoft.com/office/drawing/2014/main" id="{9F8D64BB-0807-BA15-738D-ADF1AC1B99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59" r="159"/>
          <a:stretch/>
        </p:blipFill>
        <p:spPr>
          <a:xfrm>
            <a:off x="8618268" y="5454446"/>
            <a:ext cx="2251000" cy="882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0;p17">
            <a:extLst>
              <a:ext uri="{FF2B5EF4-FFF2-40B4-BE49-F238E27FC236}">
                <a16:creationId xmlns:a16="http://schemas.microsoft.com/office/drawing/2014/main" id="{09E74978-85D2-4B2C-961E-F40A9A089D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70" b="60"/>
          <a:stretch/>
        </p:blipFill>
        <p:spPr>
          <a:xfrm>
            <a:off x="978603" y="5342686"/>
            <a:ext cx="3554730" cy="9938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707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E64B3-E599-D71D-D48E-EBF3C9EB6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349" y="1908996"/>
            <a:ext cx="10515600" cy="922694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GB" dirty="0"/>
              <a:t>  Open data portals such as the European Open Data Portal contain increasingly large collections of datasets.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3D87F-8AB0-0E62-48F9-88E066D318DF}"/>
              </a:ext>
            </a:extLst>
          </p:cNvPr>
          <p:cNvSpPr txBox="1"/>
          <p:nvPr/>
        </p:nvSpPr>
        <p:spPr>
          <a:xfrm>
            <a:off x="1005349" y="635341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Metadata as an Enabler of Dataset Discovery</a:t>
            </a:r>
            <a:endParaRPr lang="en-BE" sz="2800" b="1" dirty="0">
              <a:solidFill>
                <a:srgbClr val="7030A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8923C-5E91-F33E-67B6-D2EA51483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DD7A0-02E7-DB11-A9C2-93D2069A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2</a:t>
            </a:fld>
            <a:endParaRPr lang="en-BE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BC523E4-B571-6222-4272-0BF0A486D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D813BD-6CE1-53B5-D747-231701184C05}"/>
              </a:ext>
            </a:extLst>
          </p:cNvPr>
          <p:cNvSpPr txBox="1"/>
          <p:nvPr/>
        </p:nvSpPr>
        <p:spPr>
          <a:xfrm>
            <a:off x="374855" y="5833130"/>
            <a:ext cx="11442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1. J. Attard, F. Orlandi, S. Scerri, S. Auer, A systematic review of open government data initiatives, Government Information Quarterly 32 (2015) 399–418. doi:10.1016/j.giq.2015.07.006.</a:t>
            </a:r>
            <a:endParaRPr lang="en-B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4296E4-A743-2781-06BD-348401D01214}"/>
              </a:ext>
            </a:extLst>
          </p:cNvPr>
          <p:cNvSpPr txBox="1"/>
          <p:nvPr/>
        </p:nvSpPr>
        <p:spPr>
          <a:xfrm>
            <a:off x="1005349" y="2831690"/>
            <a:ext cx="10616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GB" dirty="0"/>
              <a:t>Data discovery usually through metadata and based on the </a:t>
            </a:r>
            <a:r>
              <a:rPr lang="en-GB" b="1" i="1" dirty="0"/>
              <a:t>quality of the metadata </a:t>
            </a:r>
            <a:r>
              <a:rPr lang="en-GB" dirty="0"/>
              <a:t>that describes it [1].</a:t>
            </a:r>
            <a:endParaRPr lang="en-B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F0404C-1ADB-E757-A343-1FA5CBF099A1}"/>
              </a:ext>
            </a:extLst>
          </p:cNvPr>
          <p:cNvSpPr txBox="1"/>
          <p:nvPr/>
        </p:nvSpPr>
        <p:spPr>
          <a:xfrm>
            <a:off x="1005349" y="3775848"/>
            <a:ext cx="10616380" cy="111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GB" dirty="0"/>
              <a:t>Keywords support metadata search yet the quality of keywords in relation to the descriptive metadata is unexplored. 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6113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B1335-A20E-49BA-E22F-5AA52D98E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24A8D-A02E-08F6-5BD0-AB9D681E5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349" y="1908996"/>
            <a:ext cx="10515600" cy="2171391"/>
          </a:xfrm>
        </p:spPr>
        <p:txBody>
          <a:bodyPr>
            <a:normAutofit/>
          </a:bodyPr>
          <a:lstStyle/>
          <a:p>
            <a:r>
              <a:rPr lang="en-GB" sz="2000" b="1" i="1" dirty="0"/>
              <a:t>Metadata-driven dataset discovery in open data portals: </a:t>
            </a:r>
            <a:r>
              <a:rPr lang="en-GB" sz="2000" dirty="0"/>
              <a:t>Datasets typically discovered through metadata rather than direct access to their contents.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AAA621-6C52-934E-15A3-54858DCE07A1}"/>
              </a:ext>
            </a:extLst>
          </p:cNvPr>
          <p:cNvSpPr txBox="1"/>
          <p:nvPr/>
        </p:nvSpPr>
        <p:spPr>
          <a:xfrm>
            <a:off x="1005349" y="632515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Why Keywords?</a:t>
            </a:r>
            <a:endParaRPr lang="en-BE" sz="2800" b="1" dirty="0">
              <a:solidFill>
                <a:srgbClr val="7030A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749AD-D9E9-58FF-7F87-A7DFF8D7F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147F6-7617-A884-8911-AEAEEA96B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3</a:t>
            </a:fld>
            <a:endParaRPr lang="en-BE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F22D52-96CD-9FE7-07E7-6AA3FCCEE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05477-941C-2283-721F-EDB4F4948587}"/>
              </a:ext>
            </a:extLst>
          </p:cNvPr>
          <p:cNvSpPr txBox="1"/>
          <p:nvPr/>
        </p:nvSpPr>
        <p:spPr>
          <a:xfrm>
            <a:off x="374855" y="5833130"/>
            <a:ext cx="11442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2. I. Peters, W. G. Stock, Folksonomy and information retrieval, Proceedings of the American Society for Information Science and Technology 44 (2007) 1–28. doi:10.1002/meet.1450440226.</a:t>
            </a:r>
            <a:endParaRPr lang="en-B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B2068-FC6B-1F84-6B23-D6759FEE7DFC}"/>
              </a:ext>
            </a:extLst>
          </p:cNvPr>
          <p:cNvSpPr txBox="1"/>
          <p:nvPr/>
        </p:nvSpPr>
        <p:spPr>
          <a:xfrm>
            <a:off x="1005349" y="3029872"/>
            <a:ext cx="10127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i="1" dirty="0"/>
              <a:t>Keywords as Thematic Descriptors: </a:t>
            </a:r>
            <a:r>
              <a:rPr lang="en-GB" sz="2000" dirty="0"/>
              <a:t>“documents are linked thematically with each other when they have been indexed with the same tags” [2]. </a:t>
            </a:r>
          </a:p>
        </p:txBody>
      </p:sp>
    </p:spTree>
    <p:extLst>
      <p:ext uri="{BB962C8B-B14F-4D97-AF65-F5344CB8AC3E}">
        <p14:creationId xmlns:p14="http://schemas.microsoft.com/office/powerpoint/2010/main" val="293292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0285E-699B-0871-85A3-64627F6F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145229-B323-1694-CCE3-72D82CADAC92}"/>
              </a:ext>
            </a:extLst>
          </p:cNvPr>
          <p:cNvSpPr txBox="1"/>
          <p:nvPr/>
        </p:nvSpPr>
        <p:spPr>
          <a:xfrm>
            <a:off x="1005349" y="589764"/>
            <a:ext cx="10811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The Problem: </a:t>
            </a:r>
            <a:r>
              <a:rPr lang="en-GB" sz="2800" b="1" i="1" dirty="0"/>
              <a:t>A</a:t>
            </a:r>
            <a:r>
              <a:rPr lang="en-GB" sz="2800" b="1" i="1" dirty="0">
                <a:solidFill>
                  <a:srgbClr val="7030A0"/>
                </a:solidFill>
              </a:rPr>
              <a:t> </a:t>
            </a:r>
            <a:r>
              <a:rPr lang="en-GB" sz="2800" b="1" i="1" dirty="0"/>
              <a:t>Semantic Gap in Keyword Quality Assessment</a:t>
            </a:r>
            <a:endParaRPr lang="en-BE" sz="2800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659C5-0AF6-BC41-E269-AAF9E906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108F6-EBBE-9DD3-252A-67BE5A46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4</a:t>
            </a:fld>
            <a:endParaRPr lang="en-BE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3229CE-E692-D103-453A-703614B6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DF24C1-919C-EF2F-CD8A-3D9F84850074}"/>
              </a:ext>
            </a:extLst>
          </p:cNvPr>
          <p:cNvSpPr txBox="1"/>
          <p:nvPr/>
        </p:nvSpPr>
        <p:spPr>
          <a:xfrm>
            <a:off x="374855" y="5833130"/>
            <a:ext cx="11442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3. J. Martinez-Gil, Framework to automatically determine the quality of open data catalogs, Expert Systems with Applications 289 (2025) 128379. doi:10.1016/j.eswa.2025.128379.</a:t>
            </a:r>
            <a:endParaRPr lang="en-BE" sz="1400" dirty="0"/>
          </a:p>
        </p:txBody>
      </p:sp>
      <p:sp>
        <p:nvSpPr>
          <p:cNvPr id="15" name="Rounded Rectangle 2">
            <a:extLst>
              <a:ext uri="{FF2B5EF4-FFF2-40B4-BE49-F238E27FC236}">
                <a16:creationId xmlns:a16="http://schemas.microsoft.com/office/drawing/2014/main" id="{BBBE1D36-9974-69D5-F811-16989F0CA2B1}"/>
              </a:ext>
            </a:extLst>
          </p:cNvPr>
          <p:cNvSpPr/>
          <p:nvPr/>
        </p:nvSpPr>
        <p:spPr>
          <a:xfrm>
            <a:off x="731520" y="1310808"/>
            <a:ext cx="3383280" cy="306324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2100" b="1"/>
            </a:pPr>
            <a:r>
              <a:rPr dirty="0"/>
              <a:t>Existing Metadata Quality</a:t>
            </a:r>
            <a:r>
              <a:rPr lang="en-GB" dirty="0"/>
              <a:t> Metrics [3]</a:t>
            </a:r>
            <a:endParaRPr dirty="0"/>
          </a:p>
          <a:p>
            <a:pPr>
              <a:spcBef>
                <a:spcPts val="1200"/>
              </a:spcBef>
              <a:defRPr sz="1800"/>
            </a:pPr>
            <a:r>
              <a:rPr dirty="0"/>
              <a:t>✓  Completeness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✓  Accuracy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✓  Consistency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✓  Accessibility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✓  Interoperability</a:t>
            </a:r>
          </a:p>
        </p:txBody>
      </p:sp>
      <p:sp>
        <p:nvSpPr>
          <p:cNvPr id="16" name="Right Arrow 3">
            <a:extLst>
              <a:ext uri="{FF2B5EF4-FFF2-40B4-BE49-F238E27FC236}">
                <a16:creationId xmlns:a16="http://schemas.microsoft.com/office/drawing/2014/main" id="{074EC3CB-5EC1-8287-774D-15A1798627D5}"/>
              </a:ext>
            </a:extLst>
          </p:cNvPr>
          <p:cNvSpPr/>
          <p:nvPr/>
        </p:nvSpPr>
        <p:spPr>
          <a:xfrm>
            <a:off x="4434840" y="2440527"/>
            <a:ext cx="1463040" cy="914400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rPr dirty="0"/>
              <a:t>BUT</a:t>
            </a: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5867FF1D-5FF1-4384-2F4B-9AEFE709A39A}"/>
              </a:ext>
            </a:extLst>
          </p:cNvPr>
          <p:cNvSpPr/>
          <p:nvPr/>
        </p:nvSpPr>
        <p:spPr>
          <a:xfrm>
            <a:off x="5956382" y="1648339"/>
            <a:ext cx="4797896" cy="2224747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320040" rtlCol="0" anchor="ctr"/>
          <a:lstStyle/>
          <a:p>
            <a:pPr algn="ctr">
              <a:defRPr sz="4400" b="1"/>
            </a:pPr>
            <a:r>
              <a:rPr dirty="0"/>
              <a:t>?</a:t>
            </a:r>
          </a:p>
          <a:p>
            <a:pPr algn="ctr">
              <a:defRPr sz="2700" b="1"/>
            </a:pPr>
            <a:r>
              <a:rPr dirty="0"/>
              <a:t>Do keywords adequately</a:t>
            </a:r>
            <a:br>
              <a:rPr dirty="0"/>
            </a:br>
            <a:r>
              <a:rPr dirty="0"/>
              <a:t>represent the metadata?</a:t>
            </a:r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209F85C0-A468-D6EE-C259-9A5200C6736E}"/>
              </a:ext>
            </a:extLst>
          </p:cNvPr>
          <p:cNvSpPr/>
          <p:nvPr/>
        </p:nvSpPr>
        <p:spPr>
          <a:xfrm>
            <a:off x="3581400" y="4500391"/>
            <a:ext cx="6676103" cy="1129719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GB" dirty="0"/>
              <a:t>Our focus: </a:t>
            </a:r>
            <a:r>
              <a:rPr lang="en-GB" i="1" dirty="0"/>
              <a:t>keyword annotations as a component of metadata quality </a:t>
            </a:r>
            <a:r>
              <a:rPr lang="en-GB" dirty="0"/>
              <a:t>and the evaluation of the </a:t>
            </a:r>
            <a:r>
              <a:rPr lang="en-GB" b="1" i="1" dirty="0"/>
              <a:t>semantic quality of keywords </a:t>
            </a:r>
            <a:r>
              <a:rPr lang="en-GB" dirty="0"/>
              <a:t>relative to titles and descriptions.</a:t>
            </a:r>
          </a:p>
        </p:txBody>
      </p:sp>
    </p:spTree>
    <p:extLst>
      <p:ext uri="{BB962C8B-B14F-4D97-AF65-F5344CB8AC3E}">
        <p14:creationId xmlns:p14="http://schemas.microsoft.com/office/powerpoint/2010/main" val="355422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54D76-6B01-BFFC-1CA8-9F130F0F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0BA801-02BB-31BC-1445-DA5ADFCE7B15}"/>
              </a:ext>
            </a:extLst>
          </p:cNvPr>
          <p:cNvSpPr txBox="1"/>
          <p:nvPr/>
        </p:nvSpPr>
        <p:spPr>
          <a:xfrm>
            <a:off x="838200" y="638190"/>
            <a:ext cx="10159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Research Questions and Contributions</a:t>
            </a:r>
            <a:endParaRPr lang="en-BE" sz="2800" b="1" dirty="0">
              <a:solidFill>
                <a:srgbClr val="7030A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AC6930-CB48-80CD-54C3-99DC3B984B26}"/>
              </a:ext>
            </a:extLst>
          </p:cNvPr>
          <p:cNvSpPr txBox="1">
            <a:spLocks/>
          </p:cNvSpPr>
          <p:nvPr/>
        </p:nvSpPr>
        <p:spPr bwMode="auto">
          <a:xfrm>
            <a:off x="346258" y="1812888"/>
            <a:ext cx="9790472" cy="96264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i="1" dirty="0"/>
              <a:t>RQ1: </a:t>
            </a:r>
            <a:r>
              <a:rPr lang="en-GB" sz="2000" i="1" dirty="0"/>
              <a:t>How can established metadata quality dimensions be operationalized for analysing keyword annotations in open data portals?</a:t>
            </a:r>
            <a:endParaRPr lang="en-US" sz="2000" i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CB8F40-5797-4F0C-A537-0A3333529DD5}"/>
              </a:ext>
            </a:extLst>
          </p:cNvPr>
          <p:cNvSpPr txBox="1">
            <a:spLocks/>
          </p:cNvSpPr>
          <p:nvPr/>
        </p:nvSpPr>
        <p:spPr bwMode="auto">
          <a:xfrm>
            <a:off x="1244600" y="3170224"/>
            <a:ext cx="10439401" cy="81879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i="1" dirty="0"/>
              <a:t>RQ2: </a:t>
            </a:r>
            <a:r>
              <a:rPr lang="en-GB" sz="2000" i="1" dirty="0"/>
              <a:t>Do the keyword annotations on open data portals adequately semantically represent the</a:t>
            </a:r>
          </a:p>
          <a:p>
            <a:r>
              <a:rPr lang="en-GB" sz="2000" i="1" dirty="0"/>
              <a:t>concepts expressed in descriptive metadata?</a:t>
            </a:r>
            <a:endParaRPr lang="en-US" sz="2000" i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A0C8816-C6CC-3F30-953D-E61060A37FF5}"/>
              </a:ext>
            </a:extLst>
          </p:cNvPr>
          <p:cNvSpPr txBox="1">
            <a:spLocks/>
          </p:cNvSpPr>
          <p:nvPr/>
        </p:nvSpPr>
        <p:spPr bwMode="auto">
          <a:xfrm>
            <a:off x="419098" y="4383704"/>
            <a:ext cx="11193781" cy="165133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spc="-10" dirty="0">
                <a:solidFill>
                  <a:srgbClr val="C00000"/>
                </a:solidFill>
                <a:cs typeface="Calibri"/>
              </a:rPr>
              <a:t>Contributions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Operationalizing Semantic Keyword Quality (SKQ):  </a:t>
            </a:r>
            <a:r>
              <a:rPr lang="en-GB" sz="2000" i="1" dirty="0"/>
              <a:t>Semantic Relevance </a:t>
            </a:r>
            <a:r>
              <a:rPr lang="en-GB" sz="2000" dirty="0"/>
              <a:t>and </a:t>
            </a:r>
            <a:r>
              <a:rPr lang="en-GB" sz="2000" i="1" dirty="0"/>
              <a:t>Semantic Completeness</a:t>
            </a:r>
            <a:r>
              <a:rPr lang="en-GB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Analysis of Semantic Keyword Quality: </a:t>
            </a:r>
            <a:r>
              <a:rPr lang="en-GB" sz="2000" dirty="0"/>
              <a:t>using sample data from the European Open Data Portal. 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6A75F-ADF0-8029-D212-84D21900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5B1DD-BBD2-F2FE-0EF9-4D5B4142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5</a:t>
            </a:fld>
            <a:endParaRPr lang="en-BE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FC39AE7-8C82-26F4-E5BA-3E1685CCA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360532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6C43E-C09C-A73C-3106-03ED3D3B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CAFD-0FCF-E5F0-C645-8CB26FDF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Introducing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3C8F6-D4C7-6567-20CF-834521158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349" y="1908997"/>
            <a:ext cx="10515600" cy="2141894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GB" dirty="0"/>
              <a:t>Based on </a:t>
            </a:r>
            <a:r>
              <a:rPr lang="en-GB" i="1" dirty="0"/>
              <a:t>metadata accuracy </a:t>
            </a:r>
            <a:r>
              <a:rPr lang="en-GB" dirty="0"/>
              <a:t>and measures the degree to which </a:t>
            </a:r>
            <a:r>
              <a:rPr lang="en-GB" i="1" dirty="0"/>
              <a:t>keyword annotations semantically align</a:t>
            </a:r>
            <a:r>
              <a:rPr lang="en-GB" dirty="0"/>
              <a:t> with associated descriptive metadata (titles and descriptions).</a:t>
            </a:r>
          </a:p>
          <a:p>
            <a:pPr>
              <a:spcAft>
                <a:spcPts val="1000"/>
              </a:spcAft>
              <a:defRPr sz="2000"/>
            </a:pPr>
            <a:r>
              <a:rPr lang="en-GB" dirty="0"/>
              <a:t>Aggregated relevance: keyword set → metadata; captures collective semantic alignment.</a:t>
            </a:r>
          </a:p>
          <a:p>
            <a:pPr>
              <a:spcAft>
                <a:spcPts val="1000"/>
              </a:spcAft>
              <a:defRPr sz="2000"/>
            </a:pPr>
            <a:r>
              <a:rPr lang="en-GB" dirty="0"/>
              <a:t>Average keyword-level relevance: individual keyword → metadata; captures alignment of individual keywords.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E37B9-EDCB-820A-19EE-C921DA76169B}"/>
              </a:ext>
            </a:extLst>
          </p:cNvPr>
          <p:cNvSpPr txBox="1"/>
          <p:nvPr/>
        </p:nvSpPr>
        <p:spPr>
          <a:xfrm>
            <a:off x="936522" y="1162482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Semantic Relevance</a:t>
            </a:r>
            <a:endParaRPr lang="en-BE" sz="2800" b="1" dirty="0">
              <a:solidFill>
                <a:srgbClr val="7030A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504AC-4A75-65B5-AE4E-99B55430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A05F8-44A4-C19A-0335-5AFF902D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6</a:t>
            </a:fld>
            <a:endParaRPr lang="en-BE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01DAFE-A28A-D29A-B382-9CD35D1D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217998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9D9FF-EEF7-0CB6-EC4D-4FF220066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33067-FB01-9E49-1D9F-8737A1778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60" y="426465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Introducing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ABAC6-E810-4A1B-F853-064E3F0B0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60" y="1504641"/>
            <a:ext cx="10515600" cy="2697355"/>
          </a:xfrm>
        </p:spPr>
        <p:txBody>
          <a:bodyPr>
            <a:noAutofit/>
          </a:bodyPr>
          <a:lstStyle/>
          <a:p>
            <a:pPr algn="just"/>
            <a:r>
              <a:rPr lang="en-GB" sz="2000" dirty="0"/>
              <a:t>Measures the </a:t>
            </a:r>
            <a:r>
              <a:rPr lang="en-GB" sz="2000" i="1" dirty="0"/>
              <a:t>overall semantic alignment </a:t>
            </a:r>
            <a:r>
              <a:rPr lang="en-GB" sz="2000" dirty="0"/>
              <a:t>between the </a:t>
            </a:r>
            <a:r>
              <a:rPr lang="en-GB" sz="2000" i="1" dirty="0"/>
              <a:t>entire keyword set </a:t>
            </a:r>
            <a:r>
              <a:rPr lang="en-GB" sz="2000" dirty="0"/>
              <a:t>and a </a:t>
            </a:r>
            <a:r>
              <a:rPr lang="en-GB" sz="2000" i="1" dirty="0"/>
              <a:t>descriptive metadata field </a:t>
            </a:r>
            <a:r>
              <a:rPr lang="en-GB" sz="2000" dirty="0"/>
              <a:t>associated with a dataset.</a:t>
            </a:r>
          </a:p>
          <a:p>
            <a:pPr algn="just"/>
            <a:r>
              <a:rPr lang="en-GB" sz="2000" dirty="0"/>
              <a:t>Let 𝐾</a:t>
            </a:r>
            <a:r>
              <a:rPr lang="en-GB" sz="2000" baseline="-25000" dirty="0"/>
              <a:t>𝑑</a:t>
            </a:r>
            <a:r>
              <a:rPr lang="en-GB" sz="2000" dirty="0"/>
              <a:t> = {𝑘</a:t>
            </a:r>
            <a:r>
              <a:rPr lang="en-GB" sz="2000" baseline="-25000" dirty="0"/>
              <a:t>1</a:t>
            </a:r>
            <a:r>
              <a:rPr lang="en-GB" sz="2000" dirty="0"/>
              <a:t>, … , 𝑘</a:t>
            </a:r>
            <a:r>
              <a:rPr lang="en-GB" sz="2000" baseline="-25000" dirty="0"/>
              <a:t>𝑛</a:t>
            </a:r>
            <a:r>
              <a:rPr lang="en-GB" sz="2000" dirty="0"/>
              <a:t>} be the set of keywords assigned to dataset 𝑑, and 𝑀</a:t>
            </a:r>
            <a:r>
              <a:rPr lang="en-GB" sz="2000" baseline="-25000" dirty="0"/>
              <a:t>𝑑</a:t>
            </a:r>
            <a:r>
              <a:rPr lang="en-GB" sz="2000" dirty="0"/>
              <a:t> ∈ {𝑡</a:t>
            </a:r>
            <a:r>
              <a:rPr lang="en-GB" sz="2000" baseline="-25000" dirty="0"/>
              <a:t>𝑑</a:t>
            </a:r>
            <a:r>
              <a:rPr lang="en-GB" sz="2000" dirty="0"/>
              <a:t>, 𝑑𝑒𝑠𝑐</a:t>
            </a:r>
            <a:r>
              <a:rPr lang="en-GB" sz="2000" baseline="-25000" dirty="0"/>
              <a:t>𝑑</a:t>
            </a:r>
            <a:r>
              <a:rPr lang="en-GB" sz="2000" dirty="0"/>
              <a:t>} represent the </a:t>
            </a:r>
            <a:r>
              <a:rPr lang="en-GB" sz="2000" i="1" dirty="0"/>
              <a:t>associated descriptive metadata</a:t>
            </a:r>
            <a:r>
              <a:rPr lang="en-GB" sz="2000" dirty="0"/>
              <a:t>, where 𝑀𝑑 consist of the dataset title or description. </a:t>
            </a:r>
          </a:p>
          <a:p>
            <a:pPr algn="just"/>
            <a:r>
              <a:rPr lang="en-GB" sz="2000" dirty="0"/>
              <a:t>Let 𝑓 (⋅) denote the </a:t>
            </a:r>
            <a:r>
              <a:rPr lang="en-GB" sz="2000" i="1" dirty="0"/>
              <a:t>embedding function</a:t>
            </a:r>
            <a:r>
              <a:rPr lang="en-GB" sz="2000" dirty="0"/>
              <a:t>, and 𝑔(⋅) denote </a:t>
            </a:r>
            <a:r>
              <a:rPr lang="en-GB" sz="2000" i="1" dirty="0"/>
              <a:t>an aggregation function </a:t>
            </a:r>
            <a:r>
              <a:rPr lang="en-GB" sz="2000" dirty="0"/>
              <a:t>combining the semantic representations of all keywords into a collective representation.</a:t>
            </a:r>
          </a:p>
          <a:p>
            <a:pPr algn="just"/>
            <a:r>
              <a:rPr lang="en-GB" sz="2000" dirty="0"/>
              <a:t>The aggregated relevance is defined as: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06021-6567-BA1D-BA3E-E288F95254DB}"/>
              </a:ext>
            </a:extLst>
          </p:cNvPr>
          <p:cNvSpPr txBox="1"/>
          <p:nvPr/>
        </p:nvSpPr>
        <p:spPr>
          <a:xfrm>
            <a:off x="914060" y="900038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Semantic Relevance: </a:t>
            </a:r>
            <a:r>
              <a:rPr lang="en-GB" sz="2800" b="1" i="1" dirty="0"/>
              <a:t>Aggregated Semantic Relevance</a:t>
            </a:r>
            <a:endParaRPr lang="en-BE" sz="28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3DF47-ACA1-253B-4D5A-B7D7DA202C2F}"/>
              </a:ext>
            </a:extLst>
          </p:cNvPr>
          <p:cNvSpPr txBox="1"/>
          <p:nvPr/>
        </p:nvSpPr>
        <p:spPr>
          <a:xfrm>
            <a:off x="3097163" y="4664419"/>
            <a:ext cx="7499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𝑅𝑒𝑙</a:t>
            </a:r>
            <a:r>
              <a:rPr lang="en-GB" sz="2400" baseline="-25000" dirty="0">
                <a:solidFill>
                  <a:schemeClr val="tx2"/>
                </a:solidFill>
              </a:rPr>
              <a:t>agg</a:t>
            </a:r>
            <a:r>
              <a:rPr lang="en-GB" sz="2400" dirty="0">
                <a:solidFill>
                  <a:schemeClr val="tx2"/>
                </a:solidFill>
              </a:rPr>
              <a:t>(𝐾</a:t>
            </a:r>
            <a:r>
              <a:rPr lang="en-GB" sz="2400" baseline="-25000" dirty="0">
                <a:solidFill>
                  <a:schemeClr val="tx2"/>
                </a:solidFill>
              </a:rPr>
              <a:t>𝑑</a:t>
            </a:r>
            <a:r>
              <a:rPr lang="en-GB" sz="2400" dirty="0">
                <a:solidFill>
                  <a:schemeClr val="tx2"/>
                </a:solidFill>
              </a:rPr>
              <a:t>, 𝑀</a:t>
            </a:r>
            <a:r>
              <a:rPr lang="en-GB" sz="2400" baseline="-25000" dirty="0">
                <a:solidFill>
                  <a:schemeClr val="tx2"/>
                </a:solidFill>
              </a:rPr>
              <a:t>𝑑</a:t>
            </a:r>
            <a:r>
              <a:rPr lang="en-GB" sz="2400" dirty="0">
                <a:solidFill>
                  <a:schemeClr val="tx2"/>
                </a:solidFill>
              </a:rPr>
              <a:t>) = cos (𝑔({𝑓 (𝑘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), … , 𝑓 (𝑘</a:t>
            </a:r>
            <a:r>
              <a:rPr lang="en-GB" sz="2400" baseline="-25000" dirty="0">
                <a:solidFill>
                  <a:schemeClr val="tx2"/>
                </a:solidFill>
              </a:rPr>
              <a:t>𝑛</a:t>
            </a:r>
            <a:r>
              <a:rPr lang="en-GB" sz="2400" dirty="0">
                <a:solidFill>
                  <a:schemeClr val="tx2"/>
                </a:solidFill>
              </a:rPr>
              <a:t>)}), 𝑓 (𝑀</a:t>
            </a:r>
            <a:r>
              <a:rPr lang="en-GB" sz="2400" baseline="-25000" dirty="0">
                <a:solidFill>
                  <a:schemeClr val="tx2"/>
                </a:solidFill>
              </a:rPr>
              <a:t>𝑑</a:t>
            </a:r>
            <a:r>
              <a:rPr lang="en-GB" sz="2400" dirty="0">
                <a:solidFill>
                  <a:schemeClr val="tx2"/>
                </a:solidFill>
              </a:rPr>
              <a:t>))</a:t>
            </a:r>
            <a:endParaRPr lang="en-BE" sz="2400" dirty="0">
              <a:solidFill>
                <a:schemeClr val="tx2"/>
              </a:solidFill>
            </a:endParaRP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C3CC0D91-F1C1-5C48-7178-47F302320551}"/>
              </a:ext>
            </a:extLst>
          </p:cNvPr>
          <p:cNvSpPr/>
          <p:nvPr/>
        </p:nvSpPr>
        <p:spPr bwMode="auto">
          <a:xfrm>
            <a:off x="6931742" y="3817585"/>
            <a:ext cx="3664975" cy="675785"/>
          </a:xfrm>
          <a:prstGeom prst="wedgeEllipseCallout">
            <a:avLst>
              <a:gd name="adj1" fmla="val -91764"/>
              <a:gd name="adj2" fmla="val 89650"/>
            </a:avLst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70C0"/>
                </a:solidFill>
              </a:rPr>
              <a:t>Cos (.,.) , cosine similarity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B7F335-2C26-2495-2751-EA7682C21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742" y="5297133"/>
            <a:ext cx="3710500" cy="896451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8048E060-77EF-2AE9-C417-21DCCCE05366}"/>
              </a:ext>
            </a:extLst>
          </p:cNvPr>
          <p:cNvSpPr/>
          <p:nvPr/>
        </p:nvSpPr>
        <p:spPr>
          <a:xfrm rot="18737194">
            <a:off x="6195386" y="4998035"/>
            <a:ext cx="413519" cy="10013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C1944AC-D1B6-3FC1-944D-3F555572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5544BE0-844E-141D-CC14-0C291C9F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7</a:t>
            </a:fld>
            <a:endParaRPr lang="en-BE" b="1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1D8D201-32DF-58D4-5FD1-5361EE71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83450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26D76-258F-2FE8-6148-FA799010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EECE-316C-5FE7-C37E-E8D68FAF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60" y="39527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Introducing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4597B-D4D4-A134-798F-445D2F3B8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60" y="1504642"/>
            <a:ext cx="10515600" cy="2693732"/>
          </a:xfrm>
        </p:spPr>
        <p:txBody>
          <a:bodyPr>
            <a:noAutofit/>
          </a:bodyPr>
          <a:lstStyle/>
          <a:p>
            <a:pPr algn="just"/>
            <a:r>
              <a:rPr lang="en-GB" sz="2000" dirty="0"/>
              <a:t>Measures the </a:t>
            </a:r>
            <a:r>
              <a:rPr lang="en-GB" sz="2000" i="1" dirty="0"/>
              <a:t>average semantic alignment </a:t>
            </a:r>
            <a:r>
              <a:rPr lang="en-GB" sz="2000" dirty="0"/>
              <a:t>of individual keywords with a metadata field.</a:t>
            </a:r>
          </a:p>
          <a:p>
            <a:pPr algn="just"/>
            <a:r>
              <a:rPr lang="en-GB" sz="2000" dirty="0"/>
              <a:t>Let 𝑑 ∈ 𝐷 denote a dataset, 𝐾</a:t>
            </a:r>
            <a:r>
              <a:rPr lang="en-GB" sz="2000" baseline="-25000" dirty="0"/>
              <a:t>𝑑</a:t>
            </a:r>
            <a:r>
              <a:rPr lang="en-GB" sz="2000" dirty="0"/>
              <a:t> = {𝑘</a:t>
            </a:r>
            <a:r>
              <a:rPr lang="en-GB" sz="2000" baseline="-25000" dirty="0"/>
              <a:t>1</a:t>
            </a:r>
            <a:r>
              <a:rPr lang="en-GB" sz="2000" dirty="0"/>
              <a:t>, … , 𝑘</a:t>
            </a:r>
            <a:r>
              <a:rPr lang="en-GB" sz="2000" baseline="-25000" dirty="0"/>
              <a:t>𝑛</a:t>
            </a:r>
            <a:r>
              <a:rPr lang="en-GB" sz="2000" dirty="0"/>
              <a:t>} the set of keywords assigned to 𝑑, and |𝐾</a:t>
            </a:r>
            <a:r>
              <a:rPr lang="en-GB" sz="2000" baseline="-25000" dirty="0"/>
              <a:t>𝑑</a:t>
            </a:r>
            <a:r>
              <a:rPr lang="en-GB" sz="2000" dirty="0"/>
              <a:t>| the number of keywords.</a:t>
            </a:r>
          </a:p>
          <a:p>
            <a:pPr algn="just"/>
            <a:r>
              <a:rPr lang="en-GB" sz="2000" dirty="0"/>
              <a:t>Each 𝑘 ∈ 𝐾</a:t>
            </a:r>
            <a:r>
              <a:rPr lang="en-GB" sz="2000" baseline="-25000" dirty="0"/>
              <a:t>𝑑</a:t>
            </a:r>
            <a:r>
              <a:rPr lang="en-GB" sz="2000" dirty="0"/>
              <a:t> represents an individual keyword, and 𝑀</a:t>
            </a:r>
            <a:r>
              <a:rPr lang="en-GB" sz="2000" baseline="-25000" dirty="0"/>
              <a:t>𝑑</a:t>
            </a:r>
            <a:r>
              <a:rPr lang="en-GB" sz="2000" dirty="0"/>
              <a:t> ∈ {𝑡</a:t>
            </a:r>
            <a:r>
              <a:rPr lang="en-GB" sz="2000" baseline="-25000" dirty="0"/>
              <a:t>𝑑</a:t>
            </a:r>
            <a:r>
              <a:rPr lang="en-GB" sz="2000" dirty="0"/>
              <a:t>, 𝑑𝑒𝑠𝑐</a:t>
            </a:r>
            <a:r>
              <a:rPr lang="en-GB" sz="2000" baseline="-25000" dirty="0"/>
              <a:t>𝑑</a:t>
            </a:r>
            <a:r>
              <a:rPr lang="en-GB" sz="2000" dirty="0"/>
              <a:t>} denotes the dataset metadata, where 𝑀</a:t>
            </a:r>
            <a:r>
              <a:rPr lang="en-GB" sz="2000" baseline="-25000" dirty="0"/>
              <a:t>𝑑</a:t>
            </a:r>
            <a:r>
              <a:rPr lang="en-GB" sz="2000" dirty="0"/>
              <a:t> is either the dataset title or description.</a:t>
            </a:r>
          </a:p>
          <a:p>
            <a:r>
              <a:rPr lang="en-GB" sz="2000" dirty="0"/>
              <a:t>The formal definition of average keyword relevance is as given: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1FD317-A65C-5DF4-986A-CDE54A65B9A4}"/>
              </a:ext>
            </a:extLst>
          </p:cNvPr>
          <p:cNvSpPr txBox="1"/>
          <p:nvPr/>
        </p:nvSpPr>
        <p:spPr>
          <a:xfrm>
            <a:off x="914060" y="842922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Semantic Relevance: </a:t>
            </a:r>
            <a:r>
              <a:rPr lang="en-GB" sz="2800" b="1" i="1" dirty="0"/>
              <a:t>Average Keyword-Level Relevance</a:t>
            </a:r>
            <a:endParaRPr lang="en-BE" sz="2800" b="1" i="1" dirty="0">
              <a:solidFill>
                <a:srgbClr val="7030A0"/>
              </a:solidFill>
            </a:endParaRPr>
          </a:p>
        </p:txBody>
      </p:sp>
      <p:pic>
        <p:nvPicPr>
          <p:cNvPr id="12" name="Picture 11" descr="equation.png">
            <a:extLst>
              <a:ext uri="{FF2B5EF4-FFF2-40B4-BE49-F238E27FC236}">
                <a16:creationId xmlns:a16="http://schemas.microsoft.com/office/drawing/2014/main" id="{CB9B5508-C1D2-8E96-4701-7AFD15DA8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877" y="4023902"/>
            <a:ext cx="6046839" cy="1253459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90EA6D0-3B79-6338-A282-6473256B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48571E7-8DFF-B024-B181-0BD7A290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8</a:t>
            </a:fld>
            <a:endParaRPr lang="en-BE" b="1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3623483-0865-9498-2D50-A6408101E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8297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29100-4ECD-351B-9224-DABF892A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46AE7-4DCF-C27C-9DEB-FC4BA26E0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Introducing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1E664-0D83-0ED8-ACDB-9B67D40B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839" y="1508886"/>
            <a:ext cx="10515600" cy="4511467"/>
          </a:xfrm>
        </p:spPr>
        <p:txBody>
          <a:bodyPr>
            <a:normAutofit/>
          </a:bodyPr>
          <a:lstStyle/>
          <a:p>
            <a:r>
              <a:rPr lang="en-GB" sz="2000" dirty="0"/>
              <a:t>Based on </a:t>
            </a:r>
            <a:r>
              <a:rPr lang="en-GB" sz="2000" i="1" dirty="0"/>
              <a:t>metadata completeness </a:t>
            </a:r>
            <a:r>
              <a:rPr lang="en-GB" sz="2000" dirty="0"/>
              <a:t>and measures </a:t>
            </a:r>
            <a:r>
              <a:rPr lang="en-GB" sz="2000" i="1" dirty="0"/>
              <a:t>degree to which keyword annotations semantically represent the concepts expressed in a metadata field</a:t>
            </a:r>
            <a:r>
              <a:rPr lang="en-GB" sz="2000" dirty="0"/>
              <a:t>.</a:t>
            </a:r>
          </a:p>
          <a:p>
            <a:r>
              <a:rPr lang="en-GB" sz="2000" dirty="0"/>
              <a:t>Let 𝑑 ∈ 𝐷 denote a dataset and 𝑀</a:t>
            </a:r>
            <a:r>
              <a:rPr lang="en-GB" sz="2000" baseline="-25000" dirty="0"/>
              <a:t>𝑑</a:t>
            </a:r>
            <a:r>
              <a:rPr lang="en-GB" sz="2000" dirty="0"/>
              <a:t> ∈ {𝑡</a:t>
            </a:r>
            <a:r>
              <a:rPr lang="en-GB" sz="2000" baseline="-25000" dirty="0"/>
              <a:t>𝑑</a:t>
            </a:r>
            <a:r>
              <a:rPr lang="en-GB" sz="2000" dirty="0"/>
              <a:t>, 𝑑𝑒𝑠𝑐</a:t>
            </a:r>
            <a:r>
              <a:rPr lang="en-GB" sz="2000" baseline="-25000" dirty="0"/>
              <a:t>𝑑</a:t>
            </a:r>
            <a:r>
              <a:rPr lang="en-GB" sz="2000" dirty="0"/>
              <a:t>} represent the associated descriptive metadata, where 𝑀</a:t>
            </a:r>
            <a:r>
              <a:rPr lang="en-GB" sz="2000" baseline="-25000" dirty="0"/>
              <a:t>𝑑</a:t>
            </a:r>
            <a:r>
              <a:rPr lang="en-GB" sz="2000" dirty="0"/>
              <a:t> is either the dataset title or description. </a:t>
            </a:r>
          </a:p>
          <a:p>
            <a:r>
              <a:rPr lang="en-GB" sz="2000" dirty="0"/>
              <a:t>Let 𝐶</a:t>
            </a:r>
            <a:r>
              <a:rPr lang="en-GB" sz="2000" baseline="-25000" dirty="0"/>
              <a:t>𝑑</a:t>
            </a:r>
            <a:r>
              <a:rPr lang="en-GB" sz="2000" dirty="0"/>
              <a:t> = {𝑐</a:t>
            </a:r>
            <a:r>
              <a:rPr lang="en-GB" sz="2000" baseline="-25000" dirty="0"/>
              <a:t>1</a:t>
            </a:r>
            <a:r>
              <a:rPr lang="en-GB" sz="2000" dirty="0"/>
              <a:t>, … , 𝑐</a:t>
            </a:r>
            <a:r>
              <a:rPr lang="en-GB" sz="2000" baseline="-25000" dirty="0"/>
              <a:t>𝑚</a:t>
            </a:r>
            <a:r>
              <a:rPr lang="en-GB" sz="2000" dirty="0"/>
              <a:t>} denote the set of concepts expressed in metadata field 𝑀</a:t>
            </a:r>
            <a:r>
              <a:rPr lang="en-GB" sz="2000" baseline="-25000" dirty="0"/>
              <a:t>𝑑</a:t>
            </a:r>
            <a:r>
              <a:rPr lang="en-GB" sz="2000" dirty="0"/>
              <a:t>, and 𝐾</a:t>
            </a:r>
            <a:r>
              <a:rPr lang="en-GB" sz="2000" baseline="-25000" dirty="0"/>
              <a:t>𝑑 </a:t>
            </a:r>
            <a:r>
              <a:rPr lang="en-GB" sz="2000" dirty="0"/>
              <a:t>= {𝑘</a:t>
            </a:r>
            <a:r>
              <a:rPr lang="en-GB" sz="2000" baseline="-25000" dirty="0"/>
              <a:t>1</a:t>
            </a:r>
            <a:r>
              <a:rPr lang="en-GB" sz="2000" dirty="0"/>
              <a:t>, … , 𝑘</a:t>
            </a:r>
            <a:r>
              <a:rPr lang="en-GB" sz="2000" baseline="-25000" dirty="0"/>
              <a:t>𝑛</a:t>
            </a:r>
            <a:r>
              <a:rPr lang="en-GB" sz="2000" dirty="0"/>
              <a:t>} denote the set of assigned keywords.</a:t>
            </a:r>
          </a:p>
          <a:p>
            <a:r>
              <a:rPr lang="en-GB" sz="2000" dirty="0"/>
              <a:t>Concepts not directly observable at scale, operationalized using a set of metadata-derived keywords 𝐾′</a:t>
            </a:r>
            <a:r>
              <a:rPr lang="en-BE" sz="2000" baseline="-25000" dirty="0"/>
              <a:t>𝑀𝑑</a:t>
            </a:r>
            <a:r>
              <a:rPr lang="en-BE" sz="2000" dirty="0"/>
              <a:t> = {𝑘′</a:t>
            </a:r>
            <a:r>
              <a:rPr lang="en-BE" sz="2000" baseline="-25000" dirty="0"/>
              <a:t>1</a:t>
            </a:r>
            <a:r>
              <a:rPr lang="en-BE" sz="2000" dirty="0"/>
              <a:t>, … , 𝑘′</a:t>
            </a:r>
            <a:r>
              <a:rPr lang="en-BE" sz="2000" baseline="-25000" dirty="0"/>
              <a:t>𝑚</a:t>
            </a:r>
            <a:r>
              <a:rPr lang="en-GB" sz="2000" baseline="-25000" dirty="0"/>
              <a:t> </a:t>
            </a:r>
            <a:r>
              <a:rPr lang="en-GB" sz="2000" dirty="0"/>
              <a:t>} extracted from 𝑀</a:t>
            </a:r>
            <a:r>
              <a:rPr lang="en-GB" sz="2000" baseline="-25000" dirty="0"/>
              <a:t>𝑑</a:t>
            </a:r>
            <a:endParaRPr lang="en-GB" sz="2000" dirty="0"/>
          </a:p>
          <a:p>
            <a:r>
              <a:rPr lang="en-GB" sz="2000" dirty="0"/>
              <a:t>Semantic Completeness therefore defined as: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D9C39-B277-D76C-9B9D-9EBA5E121288}"/>
              </a:ext>
            </a:extLst>
          </p:cNvPr>
          <p:cNvSpPr txBox="1"/>
          <p:nvPr/>
        </p:nvSpPr>
        <p:spPr>
          <a:xfrm>
            <a:off x="936522" y="816078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Semantic Completeness</a:t>
            </a:r>
            <a:endParaRPr lang="en-BE" sz="2800" b="1" dirty="0">
              <a:solidFill>
                <a:srgbClr val="7030A0"/>
              </a:solidFill>
            </a:endParaRPr>
          </a:p>
        </p:txBody>
      </p:sp>
      <p:pic>
        <p:nvPicPr>
          <p:cNvPr id="5" name="Picture 4" descr="semantic_completeness_equation.png">
            <a:extLst>
              <a:ext uri="{FF2B5EF4-FFF2-40B4-BE49-F238E27FC236}">
                <a16:creationId xmlns:a16="http://schemas.microsoft.com/office/drawing/2014/main" id="{DAAB5F6A-44E6-A530-EEA7-5E3407D18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053" y="4470051"/>
            <a:ext cx="7386484" cy="175812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FC73633-B4D8-40AD-2749-60265FAB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3AA19-96D2-DC56-4932-05094FDC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9</a:t>
            </a:fld>
            <a:endParaRPr lang="en-BE" b="1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697AC2-D59D-208D-E09A-34ADB965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96220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CB184-00C7-86A6-CB6B-3A2039A3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C1B5-E30D-649C-A226-CC6CFCCDA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Analysing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D4838-A0A8-24D6-7826-34CAEBDAB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839" y="1508888"/>
            <a:ext cx="10515600" cy="959010"/>
          </a:xfrm>
        </p:spPr>
        <p:txBody>
          <a:bodyPr>
            <a:noAutofit/>
          </a:bodyPr>
          <a:lstStyle/>
          <a:p>
            <a:pPr algn="just"/>
            <a:r>
              <a:rPr lang="en-GB" sz="2000" b="1" dirty="0"/>
              <a:t> Data Source: </a:t>
            </a:r>
            <a:r>
              <a:rPr lang="en-GB" sz="2000" dirty="0"/>
              <a:t>European Open Data Portal used as a case study. 23,777 datasets from the </a:t>
            </a:r>
            <a:r>
              <a:rPr lang="en-GB" sz="2000" i="1" dirty="0"/>
              <a:t>data.gov.uk </a:t>
            </a:r>
            <a:r>
              <a:rPr lang="en-GB" sz="2000" dirty="0"/>
              <a:t>collection extracted from the metadata dump</a:t>
            </a:r>
            <a:r>
              <a:rPr lang="en-GB" sz="2000" baseline="30000" dirty="0"/>
              <a:t>4</a:t>
            </a:r>
            <a:r>
              <a:rPr lang="en-GB" sz="2000" dirty="0"/>
              <a:t>. Randomly sampled 10,000 datasets (dataset ID, title, description, and keywords).</a:t>
            </a:r>
            <a:endParaRPr lang="en-GB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CD5FBE-699F-7AEB-C639-B814658FCB16}"/>
              </a:ext>
            </a:extLst>
          </p:cNvPr>
          <p:cNvSpPr txBox="1"/>
          <p:nvPr/>
        </p:nvSpPr>
        <p:spPr>
          <a:xfrm>
            <a:off x="936522" y="888395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Experimental Set up</a:t>
            </a:r>
            <a:endParaRPr lang="en-BE" sz="2800" b="1" dirty="0">
              <a:solidFill>
                <a:srgbClr val="7030A0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FA71007-4A8C-1DAE-DF88-B3822AD9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6C69B-E860-D589-8FC5-746CE572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10</a:t>
            </a:fld>
            <a:endParaRPr lang="en-BE" b="1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450ACC-ECDB-736B-CF12-83FBB85B3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0BF66F-40AC-FADF-B7BF-5240434A6693}"/>
              </a:ext>
            </a:extLst>
          </p:cNvPr>
          <p:cNvSpPr txBox="1"/>
          <p:nvPr/>
        </p:nvSpPr>
        <p:spPr>
          <a:xfrm>
            <a:off x="374855" y="5833130"/>
            <a:ext cx="1144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4. </a:t>
            </a:r>
            <a:r>
              <a:rPr lang="en-GB" sz="1400" i="1" dirty="0">
                <a:solidFill>
                  <a:srgbClr val="C00000"/>
                </a:solidFill>
              </a:rPr>
              <a:t>https://data.europa.eu/en/download-datasets</a:t>
            </a:r>
            <a:r>
              <a:rPr lang="en-GB" dirty="0"/>
              <a:t>, </a:t>
            </a:r>
            <a:r>
              <a:rPr lang="en-GB" sz="1400" dirty="0"/>
              <a:t>accessed on 16 April 2026.</a:t>
            </a:r>
            <a:endParaRPr lang="en-B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CB1A96-2814-ADDD-1815-D8EA0F794F8A}"/>
              </a:ext>
            </a:extLst>
          </p:cNvPr>
          <p:cNvSpPr txBox="1"/>
          <p:nvPr/>
        </p:nvSpPr>
        <p:spPr>
          <a:xfrm>
            <a:off x="1093839" y="2634923"/>
            <a:ext cx="10589342" cy="1451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lang="en-GB" sz="2000" b="1" dirty="0"/>
              <a:t>Keywords Baseline: </a:t>
            </a:r>
            <a:r>
              <a:rPr lang="en-GB" sz="2000" dirty="0"/>
              <a:t>metadata concepts approximated using KeyBERT; robustness checked using YAKE.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Sensitivity Analysis: </a:t>
            </a:r>
            <a:r>
              <a:rPr lang="en-GB" sz="2000" dirty="0"/>
              <a:t>Sensitivity: completeness thresholds τ ∈ {0.6, 0.7, 0.8}; alternative embedding model all-mpnet-base-v2.</a:t>
            </a:r>
          </a:p>
        </p:txBody>
      </p:sp>
    </p:spTree>
    <p:extLst>
      <p:ext uri="{BB962C8B-B14F-4D97-AF65-F5344CB8AC3E}">
        <p14:creationId xmlns:p14="http://schemas.microsoft.com/office/powerpoint/2010/main" val="147623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462F-C944-1175-0CB6-D8B675837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9C1AF-6D20-8E41-ECAB-BF48C5165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Analysing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1D39D-648F-2271-2ACC-0FEBA4D2B015}"/>
              </a:ext>
            </a:extLst>
          </p:cNvPr>
          <p:cNvSpPr txBox="1"/>
          <p:nvPr/>
        </p:nvSpPr>
        <p:spPr>
          <a:xfrm>
            <a:off x="936522" y="962427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Experimental Results: </a:t>
            </a:r>
            <a:r>
              <a:rPr lang="en-GB" sz="2800" b="1" i="1" dirty="0"/>
              <a:t>Semantic Relevance</a:t>
            </a:r>
            <a:endParaRPr lang="en-BE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8A143-4FAB-217E-07C6-766937CF9ACC}"/>
              </a:ext>
            </a:extLst>
          </p:cNvPr>
          <p:cNvSpPr txBox="1"/>
          <p:nvPr/>
        </p:nvSpPr>
        <p:spPr>
          <a:xfrm>
            <a:off x="3690901" y="1600200"/>
            <a:ext cx="48071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sz="2000" dirty="0">
                <a:solidFill>
                  <a:srgbClr val="002060"/>
                </a:solidFill>
              </a:rPr>
              <a:t>Summary statistics of semantic relevance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E1EC35C-ACDC-9580-B4B0-B54344143437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2194560"/>
          <a:ext cx="10908792" cy="183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rPr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rPr dirty="0"/>
                        <a:t>Agg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rPr dirty="0"/>
                        <a:t>Agg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rPr dirty="0"/>
                        <a:t>Avg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rPr dirty="0"/>
                        <a:t>Avg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rPr dirty="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rPr dirty="0"/>
                        <a:t>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B30027-B23E-067B-BE6E-5C707B43D9EC}"/>
              </a:ext>
            </a:extLst>
          </p:cNvPr>
          <p:cNvSpPr txBox="1"/>
          <p:nvPr/>
        </p:nvSpPr>
        <p:spPr>
          <a:xfrm>
            <a:off x="2047763" y="4389120"/>
            <a:ext cx="797455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rPr sz="2000" dirty="0"/>
              <a:t>Agg = Aggregated keyword relevance; Avg = Average keyword relevance.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E2676-A284-1919-EF9A-EFC1203ED14B}"/>
              </a:ext>
            </a:extLst>
          </p:cNvPr>
          <p:cNvSpPr txBox="1"/>
          <p:nvPr/>
        </p:nvSpPr>
        <p:spPr>
          <a:xfrm>
            <a:off x="835742" y="5132439"/>
            <a:ext cx="9910916" cy="1143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lang="en-GB" sz="2000" dirty="0"/>
              <a:t>Keyword sets are generally semantically related to the metadata, but alignment is low-to-moderate.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lang="en-GB" sz="2000" dirty="0"/>
              <a:t>Individual keywords are less aligned than keyword sets collectively.</a:t>
            </a:r>
            <a:endParaRPr lang="en-BE" sz="2000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904B3F3-8007-27B3-D260-463DE12A3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6052C4-FDA5-4BD3-9ACB-93B3F957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11</a:t>
            </a:fld>
            <a:endParaRPr lang="en-BE" b="1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821E4B7-2C57-3F88-F542-5A4CC91A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93347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B1FA-025B-AB4F-F6BE-A1C260439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1EF4-A6A8-D8EF-A73B-D4B2452CD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Analysing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79C3D-3A54-81C4-CF46-FD5F471865F6}"/>
              </a:ext>
            </a:extLst>
          </p:cNvPr>
          <p:cNvSpPr txBox="1"/>
          <p:nvPr/>
        </p:nvSpPr>
        <p:spPr>
          <a:xfrm>
            <a:off x="936521" y="877944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Experimental Results: </a:t>
            </a:r>
            <a:r>
              <a:rPr lang="en-GB" sz="2800" b="1" i="1" dirty="0"/>
              <a:t>Semantic Relevance</a:t>
            </a:r>
            <a:endParaRPr lang="en-BE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B1532-31A6-0355-E694-EEF9B27A8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96" y="1693552"/>
            <a:ext cx="10385008" cy="36739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BF704-9D0E-97C4-BC2D-306B5643F7CB}"/>
              </a:ext>
            </a:extLst>
          </p:cNvPr>
          <p:cNvSpPr txBox="1"/>
          <p:nvPr/>
        </p:nvSpPr>
        <p:spPr>
          <a:xfrm>
            <a:off x="1585450" y="1423108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Relationship between the number of assigned keywords and aggregated semantic relevance</a:t>
            </a:r>
            <a:endParaRPr lang="en-BE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35E3E-DDC0-56A8-5A49-293BDA20D36C}"/>
              </a:ext>
            </a:extLst>
          </p:cNvPr>
          <p:cNvSpPr txBox="1"/>
          <p:nvPr/>
        </p:nvSpPr>
        <p:spPr>
          <a:xfrm>
            <a:off x="1256070" y="5736785"/>
            <a:ext cx="9488129" cy="41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GB" dirty="0"/>
              <a:t>More keywords do not necessarily mean better aggregated semantic relevance.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7090B63-D097-B3D7-36E5-7562EE66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1C5FC9D-3AD4-D03B-DE70-D15EA312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12</a:t>
            </a:fld>
            <a:endParaRPr lang="en-BE" b="1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8E2480F-B094-F3F7-8A01-799C13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299927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481FD-2049-19A7-3896-E97087E9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B8A1-5AE0-B1E1-6A08-76CC12059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Analysing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74987-7DD0-42C1-801E-53E8BF8827E1}"/>
              </a:ext>
            </a:extLst>
          </p:cNvPr>
          <p:cNvSpPr txBox="1"/>
          <p:nvPr/>
        </p:nvSpPr>
        <p:spPr>
          <a:xfrm>
            <a:off x="936522" y="820410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Experimental Results: </a:t>
            </a:r>
            <a:r>
              <a:rPr lang="en-GB" sz="2800" b="1" i="1" dirty="0"/>
              <a:t>Semantic Completeness</a:t>
            </a:r>
            <a:endParaRPr lang="en-BE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71C799-F683-5D59-485E-54C22D708EDE}"/>
              </a:ext>
            </a:extLst>
          </p:cNvPr>
          <p:cNvSpPr txBox="1"/>
          <p:nvPr/>
        </p:nvSpPr>
        <p:spPr>
          <a:xfrm>
            <a:off x="3510126" y="1504101"/>
            <a:ext cx="53683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sz="2000" dirty="0">
                <a:solidFill>
                  <a:srgbClr val="002060"/>
                </a:solidFill>
              </a:rPr>
              <a:t>Summary statistics of semantic completeness</a:t>
            </a:r>
            <a:r>
              <a:rPr dirty="0">
                <a:solidFill>
                  <a:srgbClr val="002060"/>
                </a:solidFill>
              </a:rPr>
              <a:t>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11266FE-EF1B-E388-E49F-6D214F4B3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636927"/>
              </p:ext>
            </p:extLst>
          </p:nvPr>
        </p:nvGraphicFramePr>
        <p:xfrm>
          <a:off x="2020086" y="1984220"/>
          <a:ext cx="8348472" cy="183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rPr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rPr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rPr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rPr dirty="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0.325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0.278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rPr dirty="0"/>
                        <a:t>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0.200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8AF543D-E6F7-9EDD-3979-3DED178E3568}"/>
              </a:ext>
            </a:extLst>
          </p:cNvPr>
          <p:cNvSpPr txBox="1"/>
          <p:nvPr/>
        </p:nvSpPr>
        <p:spPr>
          <a:xfrm>
            <a:off x="1170039" y="4316361"/>
            <a:ext cx="979292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Keyword annotations cover only a limited portion of the concepts expressed in descriptive metadata.</a:t>
            </a:r>
          </a:p>
          <a:p>
            <a:endParaRPr lang="en-BE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5A63F5E-1BCC-59EC-FF47-23EDE7CD3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513594A-45E3-35EC-1352-71E912E8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13</a:t>
            </a:fld>
            <a:endParaRPr lang="en-BE" b="1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478931C-3D53-FBE2-6926-BA216E7B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3667929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BA13A-7671-CD04-0B8E-52D78420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7F1A-5223-BC5F-FDE7-3776B6E1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Analysing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6C106-7E86-CE87-830F-6687D893B109}"/>
              </a:ext>
            </a:extLst>
          </p:cNvPr>
          <p:cNvSpPr txBox="1"/>
          <p:nvPr/>
        </p:nvSpPr>
        <p:spPr>
          <a:xfrm>
            <a:off x="936522" y="962427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Experimental Results: </a:t>
            </a:r>
            <a:r>
              <a:rPr lang="en-GB" sz="2800" b="1" i="1" dirty="0"/>
              <a:t>Semantic Completeness</a:t>
            </a:r>
            <a:endParaRPr lang="en-BE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154FE-1547-B3E9-AD7B-2B0F4B242F9C}"/>
              </a:ext>
            </a:extLst>
          </p:cNvPr>
          <p:cNvSpPr txBox="1"/>
          <p:nvPr/>
        </p:nvSpPr>
        <p:spPr>
          <a:xfrm>
            <a:off x="1103670" y="1508886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Relationship between the number of assigned keywords and semantic Completeness</a:t>
            </a:r>
            <a:endParaRPr lang="en-BE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C35B0D-A318-13DB-235C-3CF719C9E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70" y="2024567"/>
            <a:ext cx="9929352" cy="35734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7142C4-7673-08D0-90F7-7FC0834C925A}"/>
              </a:ext>
            </a:extLst>
          </p:cNvPr>
          <p:cNvSpPr txBox="1"/>
          <p:nvPr/>
        </p:nvSpPr>
        <p:spPr>
          <a:xfrm>
            <a:off x="1248697" y="5830529"/>
            <a:ext cx="9488129" cy="41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GB" dirty="0"/>
              <a:t>More keywords do not necessarily mean better semantic completeness.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E6CAC31-E9E5-04DB-592C-6D7620B95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25E7F8-23FB-2C4C-0F95-7BC39B49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14</a:t>
            </a:fld>
            <a:endParaRPr lang="en-BE" b="1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DF2DED-0F70-FE82-6D5D-8E0964D85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75142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8E7A-3755-ED5B-36B4-E03D1DC1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9555F-DD75-146E-1828-00634FA1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2" y="443784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Analysing Semantic Keyword Quality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1E8EF-4037-01F6-3DFC-56790CD6208C}"/>
              </a:ext>
            </a:extLst>
          </p:cNvPr>
          <p:cNvSpPr txBox="1"/>
          <p:nvPr/>
        </p:nvSpPr>
        <p:spPr>
          <a:xfrm>
            <a:off x="936522" y="962427"/>
            <a:ext cx="101272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Experimental Results: </a:t>
            </a:r>
            <a:r>
              <a:rPr lang="en-GB" sz="2800" b="1" i="1" dirty="0"/>
              <a:t>Semantic Completeness versus Semantic Completeness</a:t>
            </a:r>
            <a:endParaRPr lang="en-BE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06BF45-2A99-E6D2-AAD5-39FEAE3202FB}"/>
              </a:ext>
            </a:extLst>
          </p:cNvPr>
          <p:cNvSpPr txBox="1"/>
          <p:nvPr/>
        </p:nvSpPr>
        <p:spPr>
          <a:xfrm>
            <a:off x="936522" y="2212258"/>
            <a:ext cx="94881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Semantic relevance exhibits </a:t>
            </a:r>
            <a:r>
              <a:rPr lang="en-GB" sz="2000" i="1" dirty="0"/>
              <a:t>low alignment </a:t>
            </a:r>
            <a:r>
              <a:rPr lang="en-GB" sz="2000" dirty="0"/>
              <a:t>(mean aggregated relevance of 0.44 and 0.41 for titles and descriptions, respectively), semantic completeness remains substantially lower (title mean = 0.33; description mean = 0.28).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Data governance perspective: </a:t>
            </a:r>
            <a:r>
              <a:rPr lang="en-GB" sz="2000" dirty="0"/>
              <a:t>current metadata curation practices within open data portals need to consider both aspects of semantic keyword quality. 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Data annotation guidelines to consider not only: “Are keywords present?”, but also: “Do keywords accurately and comprehensively represent the semantic content of the metadata?”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88B01-5740-46CA-5319-955F7204F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74B8E3-8E5D-24C7-1114-F188113F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15</a:t>
            </a:fld>
            <a:endParaRPr lang="en-BE" b="1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CB9A856-935D-71A7-F742-1EAAFFD9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316650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96ECB-4565-79A4-3CA3-E1AE9EF6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F1CD4-0D1B-8441-29A7-B11DFA919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0" y="276635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Conclusion and Future Works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6972F9-17C8-7627-F878-58C9B2D2FCBE}"/>
              </a:ext>
            </a:extLst>
          </p:cNvPr>
          <p:cNvSpPr txBox="1"/>
          <p:nvPr/>
        </p:nvSpPr>
        <p:spPr>
          <a:xfrm>
            <a:off x="1113855" y="906067"/>
            <a:ext cx="9488129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r>
              <a:rPr lang="en-GB" sz="2000" dirty="0"/>
              <a:t>We operationalize existing metadata quality metrics to analyse </a:t>
            </a:r>
            <a:r>
              <a:rPr lang="en-GB" sz="2000" b="1" dirty="0"/>
              <a:t>semantic keyword quality</a:t>
            </a:r>
            <a:r>
              <a:rPr lang="en-GB" sz="2000" dirty="0"/>
              <a:t> in terms of </a:t>
            </a:r>
            <a:r>
              <a:rPr lang="en-GB" sz="2000" i="1" dirty="0">
                <a:solidFill>
                  <a:srgbClr val="0070C0"/>
                </a:solidFill>
              </a:rPr>
              <a:t>semantic relevance </a:t>
            </a:r>
            <a:r>
              <a:rPr lang="en-GB" sz="2000" dirty="0"/>
              <a:t>and </a:t>
            </a:r>
            <a:r>
              <a:rPr lang="en-GB" sz="2000" i="1" dirty="0">
                <a:solidFill>
                  <a:srgbClr val="0070C0"/>
                </a:solidFill>
              </a:rPr>
              <a:t>semantic completeness</a:t>
            </a:r>
            <a:r>
              <a:rPr lang="en-GB" sz="2000" dirty="0"/>
              <a:t>. 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r>
              <a:rPr lang="en-GB" sz="2000" dirty="0"/>
              <a:t>Keywords are </a:t>
            </a:r>
            <a:r>
              <a:rPr lang="en-GB" sz="2000" i="1" dirty="0"/>
              <a:t>generally semantically </a:t>
            </a:r>
            <a:r>
              <a:rPr lang="en-GB" sz="2000" dirty="0"/>
              <a:t>related to metadata, but keyword coverage of metadata concepts is limited. Semantic relevance and semantic completeness capture different aspects of keyword quality.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r>
              <a:rPr lang="en-GB" sz="2000" b="1" i="1" dirty="0"/>
              <a:t>Current Limitation: </a:t>
            </a:r>
            <a:r>
              <a:rPr lang="en-GB" sz="2000" dirty="0"/>
              <a:t>Semantic completeness currently relies on </a:t>
            </a:r>
            <a:r>
              <a:rPr lang="en-GB" sz="2000" i="1" dirty="0"/>
              <a:t>automatically extracted metadata </a:t>
            </a:r>
            <a:r>
              <a:rPr lang="en-GB" sz="2000" dirty="0"/>
              <a:t>concepts rather than </a:t>
            </a:r>
            <a:r>
              <a:rPr lang="en-GB" sz="2000" i="1" dirty="0"/>
              <a:t>human-validated concepts.</a:t>
            </a:r>
            <a:endParaRPr lang="en-GB" sz="2000" b="1" i="1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r>
              <a:rPr lang="en-GB" sz="2000" b="1" i="1" dirty="0"/>
              <a:t>Next steps: </a:t>
            </a:r>
            <a:r>
              <a:rPr lang="en-GB" sz="2000" dirty="0"/>
              <a:t>develop a human-annotated reference dataset, validate computational SKQ against human judgments, and investigate whether higher SKQ improves dataset discoverability and retrieval.</a:t>
            </a:r>
            <a:endParaRPr lang="en-GB" sz="2000" b="1" i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F20E9-AA6B-D11D-0274-AC52A739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745E3-6C84-6571-1E57-01B0182C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16</a:t>
            </a:fld>
            <a:endParaRPr lang="en-BE" b="1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D769E4-A519-B387-C9E5-3EF7BE0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369812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45BDD-B5A1-02ED-5BE9-E69CE1D7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ED0B-0825-3BD0-99D8-B1772F7D3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0" y="276635"/>
            <a:ext cx="10515600" cy="372294"/>
          </a:xfrm>
        </p:spPr>
        <p:txBody>
          <a:bodyPr>
            <a:normAutofit fontScale="90000"/>
          </a:bodyPr>
          <a:lstStyle/>
          <a:p>
            <a:r>
              <a:rPr lang="en-GB" sz="3600" i="1" dirty="0">
                <a:solidFill>
                  <a:srgbClr val="002060"/>
                </a:solidFill>
                <a:latin typeface="+mn-lt"/>
              </a:rPr>
              <a:t>Acknowledgements and Availability of Resources</a:t>
            </a:r>
            <a:endParaRPr lang="en-BE" sz="3600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4F6AF-20D0-B959-B37C-9D0BD30BF5D7}"/>
              </a:ext>
            </a:extLst>
          </p:cNvPr>
          <p:cNvSpPr txBox="1"/>
          <p:nvPr/>
        </p:nvSpPr>
        <p:spPr>
          <a:xfrm>
            <a:off x="2353499" y="2315785"/>
            <a:ext cx="1040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GB" sz="2000" dirty="0">
                <a:solidFill>
                  <a:srgbClr val="0070C0"/>
                </a:solidFill>
              </a:rPr>
              <a:t>GitHub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DDD91-C854-FBDF-9949-E09D2FC903B1}"/>
              </a:ext>
            </a:extLst>
          </p:cNvPr>
          <p:cNvSpPr txBox="1"/>
          <p:nvPr/>
        </p:nvSpPr>
        <p:spPr>
          <a:xfrm>
            <a:off x="926690" y="624155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Acknowledgements</a:t>
            </a:r>
            <a:endParaRPr lang="en-BE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A6849-911B-BD00-6CCB-207F0843E3B9}"/>
              </a:ext>
            </a:extLst>
          </p:cNvPr>
          <p:cNvSpPr txBox="1"/>
          <p:nvPr/>
        </p:nvSpPr>
        <p:spPr>
          <a:xfrm>
            <a:off x="926690" y="1799762"/>
            <a:ext cx="101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Availability of Resources</a:t>
            </a:r>
            <a:endParaRPr lang="en-BE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6A07D-EAC1-CCE5-9E34-E50544E9EF15}"/>
              </a:ext>
            </a:extLst>
          </p:cNvPr>
          <p:cNvSpPr txBox="1"/>
          <p:nvPr/>
        </p:nvSpPr>
        <p:spPr>
          <a:xfrm>
            <a:off x="2209800" y="1076486"/>
            <a:ext cx="82513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This work was supported by the Fonds de la Recherche Scientifique – FNRS under Grant n° MIS F.4016.24.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347FD1-315A-6C84-0584-F77FA9B69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956" y="2715895"/>
            <a:ext cx="3222016" cy="32220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E30DA9-4777-4BEC-BB13-24903C3D9BBC}"/>
              </a:ext>
            </a:extLst>
          </p:cNvPr>
          <p:cNvSpPr txBox="1"/>
          <p:nvPr/>
        </p:nvSpPr>
        <p:spPr>
          <a:xfrm>
            <a:off x="154584" y="6093744"/>
            <a:ext cx="6942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GB" sz="1600" dirty="0">
                <a:solidFill>
                  <a:srgbClr val="C00000"/>
                </a:solidFill>
              </a:rPr>
              <a:t>Link: https://github.com/DeperiasKerre/keyword_quality_eval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E201AF-3FFB-5ABF-7069-13E6B869A16E}"/>
              </a:ext>
            </a:extLst>
          </p:cNvPr>
          <p:cNvSpPr txBox="1"/>
          <p:nvPr/>
        </p:nvSpPr>
        <p:spPr>
          <a:xfrm>
            <a:off x="8112042" y="2363757"/>
            <a:ext cx="1040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rPr lang="en-GB" sz="2000" dirty="0">
                <a:solidFill>
                  <a:srgbClr val="0070C0"/>
                </a:solidFill>
              </a:rPr>
              <a:t>Zenodo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5D65D9-1106-A190-7052-C25DF09CC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486" y="2715895"/>
            <a:ext cx="3141013" cy="31410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D2A645-F66D-E5F8-6B14-EA394742C2FB}"/>
              </a:ext>
            </a:extLst>
          </p:cNvPr>
          <p:cNvSpPr txBox="1"/>
          <p:nvPr/>
        </p:nvSpPr>
        <p:spPr>
          <a:xfrm>
            <a:off x="6879772" y="609374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baseline="0" dirty="0">
                <a:solidFill>
                  <a:srgbClr val="C00000"/>
                </a:solidFill>
                <a:latin typeface="LibertinusSerif-Regular"/>
              </a:rPr>
              <a:t>https://doi.org/10.5281/zenodo.22108459</a:t>
            </a:r>
            <a:endParaRPr lang="en-BE" sz="1600" dirty="0">
              <a:solidFill>
                <a:srgbClr val="C00000"/>
              </a:solidFill>
            </a:endParaRP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2D80202-F729-7E4A-5B68-3588264E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D832EA4-1DEC-B2FD-FADF-D72F0645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17</a:t>
            </a:fld>
            <a:endParaRPr lang="en-BE" b="1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6B8FCE2-F344-5B8D-D679-05F1656FB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56094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4" grpId="0"/>
      <p:bldP spid="6" grpId="0"/>
      <p:bldP spid="10" grpId="0"/>
      <p:bldP spid="11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B3C614-A5F0-160C-1021-21248E90D436}"/>
              </a:ext>
            </a:extLst>
          </p:cNvPr>
          <p:cNvSpPr/>
          <p:nvPr/>
        </p:nvSpPr>
        <p:spPr bwMode="auto">
          <a:xfrm>
            <a:off x="2424251" y="2518005"/>
            <a:ext cx="82872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Thanks for your attention. Q &amp; A.</a:t>
            </a:r>
            <a:endParaRPr lang="en-KE" sz="4000" dirty="0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963368-A957-838B-A9F1-E3863B58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b="1" dirty="0"/>
              <a:t>15/09/2026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56B93-A7FA-5694-77C6-00CF47F3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CF0F1-4288-4E20-A5EE-551BC0760B6A}" type="slidenum">
              <a:rPr lang="en-BE" b="1" smtClean="0"/>
              <a:t>18</a:t>
            </a:fld>
            <a:endParaRPr lang="en-BE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17D9-6A0F-B822-B8C6-D0EB476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 dirty="0"/>
              <a:t>NXDG 2026 -Ghent, Belgium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2147217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1531</Words>
  <Application>Microsoft Office PowerPoint</Application>
  <PresentationFormat>Widescreen</PresentationFormat>
  <Paragraphs>180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Abadi ExtraLight</vt:lpstr>
      <vt:lpstr>Aptos</vt:lpstr>
      <vt:lpstr>Aptos Display</vt:lpstr>
      <vt:lpstr>Arial</vt:lpstr>
      <vt:lpstr>Calibri</vt:lpstr>
      <vt:lpstr>LibertinusSerif-Regular</vt:lpstr>
      <vt:lpstr>Office Theme</vt:lpstr>
      <vt:lpstr>Are the Provided Keywords on Open Data Portals Semantically Complete and Relevant? An Exploratory Study</vt:lpstr>
      <vt:lpstr>PowerPoint Presentation</vt:lpstr>
      <vt:lpstr>PowerPoint Presentation</vt:lpstr>
      <vt:lpstr>PowerPoint Presentation</vt:lpstr>
      <vt:lpstr>PowerPoint Presentation</vt:lpstr>
      <vt:lpstr>Introducing Semantic Keyword Quality</vt:lpstr>
      <vt:lpstr>Introducing Semantic Keyword Quality</vt:lpstr>
      <vt:lpstr>Introducing Semantic Keyword Quality</vt:lpstr>
      <vt:lpstr>Introducing Semantic Keyword Quality</vt:lpstr>
      <vt:lpstr>Analysing Semantic Keyword Quality</vt:lpstr>
      <vt:lpstr>Analysing Semantic Keyword Quality</vt:lpstr>
      <vt:lpstr>Analysing Semantic Keyword Quality</vt:lpstr>
      <vt:lpstr>Analysing Semantic Keyword Quality</vt:lpstr>
      <vt:lpstr>Analysing Semantic Keyword Quality</vt:lpstr>
      <vt:lpstr>Analysing Semantic Keyword Quality</vt:lpstr>
      <vt:lpstr>Conclusion and Future Works</vt:lpstr>
      <vt:lpstr>Acknowledgements and Availability of 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Kerre Deperias</dc:creator>
  <cp:lastModifiedBy>Kerre Deperias</cp:lastModifiedBy>
  <cp:revision>91</cp:revision>
  <dcterms:created xsi:type="dcterms:W3CDTF">2026-09-04T12:50:27Z</dcterms:created>
  <dcterms:modified xsi:type="dcterms:W3CDTF">2026-09-08T12:34:09Z</dcterms:modified>
</cp:coreProperties>
</file>