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72" r:id="rId3"/>
    <p:sldId id="257" r:id="rId4"/>
    <p:sldId id="274" r:id="rId5"/>
    <p:sldId id="275" r:id="rId6"/>
    <p:sldId id="25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77" r:id="rId15"/>
    <p:sldId id="268" r:id="rId16"/>
    <p:sldId id="276" r:id="rId17"/>
    <p:sldId id="267" r:id="rId18"/>
    <p:sldId id="27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5D3ED2-8864-4DD6-A3F8-C2211C0978B4}" type="datetimeFigureOut">
              <a:rPr lang="en-BE" smtClean="0"/>
              <a:t>11/09/2026</a:t>
            </a:fld>
            <a:endParaRPr lang="en-B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8D2CC-85FC-47EA-B96A-383D32595225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59742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8D2CC-85FC-47EA-B96A-383D32595225}" type="slidenum">
              <a:rPr lang="en-BE" smtClean="0"/>
              <a:t>13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76925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7F4C-34BE-D391-9B03-B08B0C54C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6D0A04-0B8A-A9C0-B71D-93CBE5728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310A6-674D-D18F-391C-8755D6488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E0940-D138-B007-8110-E7E620C3D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8D2CC-85FC-47EA-B96A-383D32595225}" type="slidenum">
              <a:rPr lang="en-BE" smtClean="0"/>
              <a:t>14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0989908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14923-E2FB-4ACC-79FD-439B546EE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83CEB-8EB4-CAEB-0771-1A489BD22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7359A-C251-2C75-600C-6E85D0C22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A15F1-8935-7524-4C62-68A22909F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DEDC-2873-B442-B798-7098907F7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350918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8B81-E84E-D385-F913-9C974A142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3C75D-FEF9-BF98-8DC9-9B096A218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778ED-C81C-3C99-0599-359CCBC46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52A2-2A78-E186-AB4F-9D487FA53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697A9-F891-C036-5D26-2A49E14D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3694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187F7-A96C-E5F9-AC60-054C6CF86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D9AD9-D93B-B575-001E-46A9C547AF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EC426-EC0A-E655-D5C5-03DF011C3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EB05E-E155-01DD-AB6B-A51BFBF2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7ECB6-C8BB-BF32-A5E5-93349387C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39643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FC05A-883C-0DA9-45A8-03E154C68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43233-0FA4-6E33-E10F-9B4BFB212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2DC038-2822-A47B-FF56-C0A688CD42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5C1E7C-F5F2-7FF7-48D8-5D6C507B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418A1-3DF3-173F-C567-77E167573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EAF81-0EDE-400B-87CF-59181EE8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7065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69AB4-DDA6-46CA-9D9D-1C3E21061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A03E9-5D82-481F-AA7C-98ADAEAB4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65394-A9C6-4B68-0C0C-10C1930D8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343CBB-A671-7347-EFCE-105204B2B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F5D920-189A-DF4A-6A9B-7EC043451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BDFD9-1D68-EBAB-0C7B-08298DB7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69FDC7-BF7C-159B-51B7-136AF411D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C2DB11-F90D-EBEF-6AD9-979A8B954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82496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E564-D0F3-E21B-0729-B35D5EF54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68FC2-3E77-DCD4-8135-9A01FE8B8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4E358-5856-604C-29E2-D92C91AF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E49DC-1723-3D31-45A9-DF004E50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1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1E60EF-3E87-5204-05FD-6F9079666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10C9F1-AEF3-F91D-1430-ED271EF9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41A91-5B1A-463E-E68A-75BB5CEBD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4264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0AE2C-C282-8F83-C799-27643C561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21686-FE86-DDA6-5CA5-10B8787B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9E55E3-5FD5-3D8C-563F-B0DE632DE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70F9D-0C45-5D6A-7099-C57801063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993D7-1A6F-B176-A548-4023A9A1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2C3D3-A001-A700-1224-A8105BE00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8630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54D77-13C7-3336-1AD8-18DC8910E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CA0EC7-4E14-1710-AFC1-3ECE4F3D0F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DCA56-5CD7-D66B-2648-73C9990A7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8D3BB-4613-944A-E85C-B49536856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26CF1-5C3F-2F4A-71ED-5D56F502C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D0E8D-25F9-3DB1-62D8-CADF67CFD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71205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66BB7-562D-77E7-C1A6-35F386818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6BC80-2E0B-8B1A-6F9F-4879C13FF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211C4-00FB-2EB7-7037-E6EDE275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51826-0B7A-5DFA-388C-0FD91FFAD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0495C-E582-1B2F-C198-70057392E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07063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BC8DF-AF8C-F37C-AC0E-85D650E259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B71574-112E-231D-2092-ECAB9A3EEE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53D28-9374-007D-FE6E-D0F636F40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46C6A-8616-86CC-11FB-96EF6EB5C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2915F-BEA7-2C61-86FE-AA042D37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78445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526B83-F3CA-9E1D-1CCF-E8C3715F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176063-D28E-CE04-9CD5-0B7D845F14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9E072-40DF-341A-BEDA-653CF46F4E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35372-1EC6-FF84-D406-6E495914A7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C4262-4F1B-99A7-D3D4-230EC2D9B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474714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8399E-6433-2D69-6DD0-BE75FF6CB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881" y="661734"/>
            <a:ext cx="10982632" cy="993823"/>
          </a:xfrm>
        </p:spPr>
        <p:txBody>
          <a:bodyPr>
            <a:normAutofit fontScale="90000"/>
          </a:bodyPr>
          <a:lstStyle/>
          <a:p>
            <a:pPr algn="l"/>
            <a:r>
              <a:rPr lang="en-GB" sz="3200" b="1" dirty="0">
                <a:solidFill>
                  <a:srgbClr val="002060"/>
                </a:solidFill>
                <a:latin typeface="Abadi" panose="020B0604020104020204" pitchFamily="34" charset="0"/>
              </a:rPr>
              <a:t>Are the Provided Keywords on Open Data Portals Semantically Complete and Relevant? An Exploratory Study</a:t>
            </a:r>
            <a:endParaRPr lang="en-BE" sz="3200" b="1" dirty="0">
              <a:solidFill>
                <a:srgbClr val="002060"/>
              </a:solidFill>
              <a:latin typeface="Abadi" panose="020B0604020104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750AE7-BF28-379A-4C56-04BB27203F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39" y="2399070"/>
            <a:ext cx="10982632" cy="2231436"/>
          </a:xfrm>
        </p:spPr>
        <p:txBody>
          <a:bodyPr>
            <a:normAutofit lnSpcReduction="10000"/>
          </a:bodyPr>
          <a:lstStyle/>
          <a:p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Deperias Kerre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Christophe Debruyne</a:t>
            </a:r>
          </a:p>
          <a:p>
            <a:endParaRPr lang="en-BE" dirty="0"/>
          </a:p>
          <a:p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NXDG 2026, co-located with SEMANTiCS 2026</a:t>
            </a:r>
          </a:p>
          <a:p>
            <a:endParaRPr lang="en-GB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en-GB" dirty="0"/>
              <a:t>Ghent, Belgium, September 15, 2026</a:t>
            </a:r>
            <a:endParaRPr lang="en-BE" dirty="0"/>
          </a:p>
        </p:txBody>
      </p:sp>
      <p:pic>
        <p:nvPicPr>
          <p:cNvPr id="6" name="Google Shape;71;p17">
            <a:extLst>
              <a:ext uri="{FF2B5EF4-FFF2-40B4-BE49-F238E27FC236}">
                <a16:creationId xmlns:a16="http://schemas.microsoft.com/office/drawing/2014/main" id="{9F8D64BB-0807-BA15-738D-ADF1AC1B99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59" r="159"/>
          <a:stretch/>
        </p:blipFill>
        <p:spPr>
          <a:xfrm>
            <a:off x="9424513" y="5495646"/>
            <a:ext cx="2251000" cy="882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0;p17">
            <a:extLst>
              <a:ext uri="{FF2B5EF4-FFF2-40B4-BE49-F238E27FC236}">
                <a16:creationId xmlns:a16="http://schemas.microsoft.com/office/drawing/2014/main" id="{09E74978-85D2-4B2C-961E-F40A9A089D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70" b="60"/>
          <a:stretch/>
        </p:blipFill>
        <p:spPr>
          <a:xfrm>
            <a:off x="83867" y="5374019"/>
            <a:ext cx="3554730" cy="993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55CA7C-F689-EBEA-2B64-85D4D9DD1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2477" y="5470027"/>
            <a:ext cx="2338555" cy="89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076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45BDD-B5A1-02ED-5BE9-E69CE1D78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8DDD91-C854-FBDF-9949-E09D2FC903B1}"/>
              </a:ext>
            </a:extLst>
          </p:cNvPr>
          <p:cNvSpPr txBox="1"/>
          <p:nvPr/>
        </p:nvSpPr>
        <p:spPr>
          <a:xfrm>
            <a:off x="838200" y="53566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Acknowledgements</a:t>
            </a:r>
            <a:endParaRPr lang="en-BE" sz="2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26A07D-EAC1-CCE5-9E34-E50544E9EF15}"/>
              </a:ext>
            </a:extLst>
          </p:cNvPr>
          <p:cNvSpPr txBox="1"/>
          <p:nvPr/>
        </p:nvSpPr>
        <p:spPr>
          <a:xfrm>
            <a:off x="1435862" y="1400950"/>
            <a:ext cx="9320628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/>
              <a:t>This work was primarily funded by the Fonds de la Recherche Scientifique – FNRS under Grant No. MIS F.4016.24.</a:t>
            </a:r>
          </a:p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/>
              <a:t>Partial mobility support by Strathmore University.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82D80202-F729-7E4A-5B68-3588264E3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D832EA4-1DEC-B2FD-FADF-D72F0645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</a:t>
            </a:fld>
            <a:endParaRPr lang="en-BE" b="1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6B8FCE2-F344-5B8D-D679-05F1656FB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56094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E64B3-E599-D71D-D48E-EBF3C9EB6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349" y="1447649"/>
            <a:ext cx="10515600" cy="9226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  Open data portals contain increasingly large collections of datasets.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3D87F-8AB0-0E62-48F9-88E066D318DF}"/>
              </a:ext>
            </a:extLst>
          </p:cNvPr>
          <p:cNvSpPr txBox="1"/>
          <p:nvPr/>
        </p:nvSpPr>
        <p:spPr>
          <a:xfrm>
            <a:off x="1005349" y="635341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Metadata as an Enabler of Dataset Discovery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8923C-5E91-F33E-67B6-D2EA51483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DD7A0-02E7-DB11-A9C2-93D2069A4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3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523E4-B571-6222-4272-0BF0A486D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D813BD-6CE1-53B5-D747-231701184C05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1. J. Attard, F. Orlandi, S. Scerri, S. Auer, A systematic review of open government data initiatives, Government Information Quarterly 32 (2015) 399–418. doi:10.1016/j.giq.2015.07.006.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4296E4-A743-2781-06BD-348401D01214}"/>
              </a:ext>
            </a:extLst>
          </p:cNvPr>
          <p:cNvSpPr txBox="1"/>
          <p:nvPr/>
        </p:nvSpPr>
        <p:spPr>
          <a:xfrm>
            <a:off x="1005349" y="2370343"/>
            <a:ext cx="10616380" cy="12721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Data discovery usually through metadata such as </a:t>
            </a:r>
            <a:r>
              <a:rPr lang="en-GB" i="1" dirty="0"/>
              <a:t>keywords</a:t>
            </a:r>
            <a:r>
              <a:rPr lang="en-GB" dirty="0"/>
              <a:t>, title and data description.</a:t>
            </a:r>
          </a:p>
          <a:p>
            <a:pPr>
              <a:spcAft>
                <a:spcPts val="1000"/>
              </a:spcAft>
              <a:defRPr sz="2000"/>
            </a:pPr>
            <a:endParaRPr lang="en-GB" dirty="0"/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endParaRPr lang="en-B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CE1BA-4907-253B-8B09-E2094A24CC66}"/>
              </a:ext>
            </a:extLst>
          </p:cNvPr>
          <p:cNvSpPr txBox="1"/>
          <p:nvPr/>
        </p:nvSpPr>
        <p:spPr>
          <a:xfrm>
            <a:off x="1005349" y="3244334"/>
            <a:ext cx="8482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 Data discoverability is based on the </a:t>
            </a:r>
            <a:r>
              <a:rPr lang="en-GB" b="1" i="1" dirty="0"/>
              <a:t>quality of the metadata </a:t>
            </a:r>
            <a:r>
              <a:rPr lang="en-GB" dirty="0"/>
              <a:t>that describes it [1].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6113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1C16C-BF62-5F3A-AA42-7B66FA94E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DBAA5D-F3A6-13BF-3C9E-C58203927695}"/>
              </a:ext>
            </a:extLst>
          </p:cNvPr>
          <p:cNvSpPr txBox="1"/>
          <p:nvPr/>
        </p:nvSpPr>
        <p:spPr>
          <a:xfrm>
            <a:off x="426229" y="372306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Why Keywords?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16750-6C93-8FB8-FAE1-5173723B1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B0C25-B35C-34EF-0C2E-7F131E01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4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510ABB-CB21-A2DF-216E-490483829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B0B9EE-2EDF-38E8-6612-C02ADA88B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22" y="895526"/>
            <a:ext cx="5555226" cy="30957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C8EF89-D6A6-BB4F-8B99-44072EAAA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806" y="4183122"/>
            <a:ext cx="5712542" cy="19813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DDF802-FF25-626D-0248-55755442AB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0468"/>
            <a:ext cx="5850195" cy="357442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F00680-EADC-BA5C-F188-F4F7B3D4095A}"/>
              </a:ext>
            </a:extLst>
          </p:cNvPr>
          <p:cNvCxnSpPr/>
          <p:nvPr/>
        </p:nvCxnSpPr>
        <p:spPr>
          <a:xfrm flipV="1">
            <a:off x="1848465" y="3706761"/>
            <a:ext cx="4404851" cy="144534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0623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F89DD-A23A-AB6D-6AEF-8C52E39F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9E2DBE-F39E-ECB3-EA01-DF6660B4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7A5E3-71AA-B362-623B-EF51B87D1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5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87A274A-BD74-1A71-3C3C-A499594B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91689-74E8-43FD-F47A-9FB5F6D556EF}"/>
              </a:ext>
            </a:extLst>
          </p:cNvPr>
          <p:cNvSpPr txBox="1"/>
          <p:nvPr/>
        </p:nvSpPr>
        <p:spPr>
          <a:xfrm>
            <a:off x="347817" y="593531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2. I. Peters, W. G. Stock, Folksonomy and information retrieval, Proceedings of the American Society for Information Science and Technology 44 (2007) 1–28. doi:10.1002/meet.1450440226.</a:t>
            </a:r>
            <a:endParaRPr lang="en-BE" sz="1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0E57DA-0AD5-8946-D242-9303E0EDDF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54874"/>
            <a:ext cx="6223000" cy="294085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3780F-577A-5C0D-2B96-C6D0AC423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200" y="1377622"/>
            <a:ext cx="4778154" cy="27586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85FA2A-9B18-8302-2813-DD1ECAE4AB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94870"/>
            <a:ext cx="3551228" cy="13717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82BDD4-232C-21E9-B394-55B5FCF3A2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887" y="4494870"/>
            <a:ext cx="3977985" cy="13412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E588BA1-2A44-7E49-05B6-F0093836D2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872" y="4493283"/>
            <a:ext cx="3551229" cy="13733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F3F7BB-0109-6F97-0828-A09D6B38AB72}"/>
              </a:ext>
            </a:extLst>
          </p:cNvPr>
          <p:cNvSpPr txBox="1"/>
          <p:nvPr/>
        </p:nvSpPr>
        <p:spPr>
          <a:xfrm>
            <a:off x="426229" y="372306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Why Keywords?</a:t>
            </a:r>
            <a:endParaRPr lang="en-BE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625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0285E-699B-0871-85A3-64627F6F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145229-B323-1694-CCE3-72D82CADAC92}"/>
              </a:ext>
            </a:extLst>
          </p:cNvPr>
          <p:cNvSpPr txBox="1"/>
          <p:nvPr/>
        </p:nvSpPr>
        <p:spPr>
          <a:xfrm>
            <a:off x="1005349" y="589764"/>
            <a:ext cx="108117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The Problem: </a:t>
            </a:r>
            <a:r>
              <a:rPr lang="en-GB" sz="2800" b="1" i="1" dirty="0"/>
              <a:t>A</a:t>
            </a:r>
            <a:r>
              <a:rPr lang="en-GB" sz="2800" b="1" i="1" dirty="0">
                <a:solidFill>
                  <a:srgbClr val="7030A0"/>
                </a:solidFill>
              </a:rPr>
              <a:t> </a:t>
            </a:r>
            <a:r>
              <a:rPr lang="en-GB" sz="2800" b="1" i="1" dirty="0"/>
              <a:t>Semantic Gap in Keyword Quality Assessment</a:t>
            </a:r>
            <a:endParaRPr lang="en-BE" sz="2800" b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E659C5-0AF6-BC41-E269-AAF9E906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108F6-EBBE-9DD3-252A-67BE5A46F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6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229CE-E692-D103-453A-703614B61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F24C1-919C-EF2F-CD8A-3D9F84850074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3. J. Martinez-Gil, Framework to automatically determine the quality of open data catalogs, Expert Systems with Applications 289 (2025) 128379. doi:10.1016/j.eswa.2025.128379.</a:t>
            </a:r>
            <a:endParaRPr lang="en-BE" sz="1400" dirty="0"/>
          </a:p>
        </p:txBody>
      </p:sp>
      <p:sp>
        <p:nvSpPr>
          <p:cNvPr id="15" name="Rounded Rectangle 2">
            <a:extLst>
              <a:ext uri="{FF2B5EF4-FFF2-40B4-BE49-F238E27FC236}">
                <a16:creationId xmlns:a16="http://schemas.microsoft.com/office/drawing/2014/main" id="{BBBE1D36-9974-69D5-F811-16989F0CA2B1}"/>
              </a:ext>
            </a:extLst>
          </p:cNvPr>
          <p:cNvSpPr/>
          <p:nvPr/>
        </p:nvSpPr>
        <p:spPr>
          <a:xfrm>
            <a:off x="731520" y="1310808"/>
            <a:ext cx="3383280" cy="306324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28600" rtlCol="0" anchor="ctr"/>
          <a:lstStyle/>
          <a:p>
            <a:pPr algn="ctr">
              <a:defRPr sz="2100" b="1"/>
            </a:pPr>
            <a:r>
              <a:rPr dirty="0"/>
              <a:t>Existing Metadata Quality</a:t>
            </a:r>
            <a:r>
              <a:rPr lang="en-GB" dirty="0"/>
              <a:t> Metrics [3]</a:t>
            </a:r>
            <a:endParaRPr dirty="0"/>
          </a:p>
          <a:p>
            <a:pPr>
              <a:spcBef>
                <a:spcPts val="1200"/>
              </a:spcBef>
              <a:defRPr sz="1800"/>
            </a:pPr>
            <a:r>
              <a:rPr dirty="0"/>
              <a:t>✓  Completeness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Accuracy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Consistency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Accessibility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Interoperability</a:t>
            </a:r>
          </a:p>
        </p:txBody>
      </p:sp>
      <p:sp>
        <p:nvSpPr>
          <p:cNvPr id="16" name="Right Arrow 3">
            <a:extLst>
              <a:ext uri="{FF2B5EF4-FFF2-40B4-BE49-F238E27FC236}">
                <a16:creationId xmlns:a16="http://schemas.microsoft.com/office/drawing/2014/main" id="{074EC3CB-5EC1-8287-774D-15A1798627D5}"/>
              </a:ext>
            </a:extLst>
          </p:cNvPr>
          <p:cNvSpPr/>
          <p:nvPr/>
        </p:nvSpPr>
        <p:spPr>
          <a:xfrm>
            <a:off x="4434840" y="2440527"/>
            <a:ext cx="1463040" cy="914400"/>
          </a:xfrm>
          <a:prstGeom prst="rightArrow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dirty="0"/>
              <a:t>BUT</a:t>
            </a:r>
          </a:p>
        </p:txBody>
      </p:sp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5867FF1D-5FF1-4384-2F4B-9AEFE709A39A}"/>
              </a:ext>
            </a:extLst>
          </p:cNvPr>
          <p:cNvSpPr/>
          <p:nvPr/>
        </p:nvSpPr>
        <p:spPr>
          <a:xfrm>
            <a:off x="5956382" y="1648339"/>
            <a:ext cx="4797896" cy="2224747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28600" rIns="320040" rtlCol="0" anchor="ctr"/>
          <a:lstStyle/>
          <a:p>
            <a:pPr algn="ctr">
              <a:defRPr sz="4400" b="1"/>
            </a:pPr>
            <a:r>
              <a:rPr dirty="0"/>
              <a:t>?</a:t>
            </a:r>
          </a:p>
          <a:p>
            <a:pPr algn="ctr">
              <a:defRPr sz="2700" b="1"/>
            </a:pPr>
            <a:r>
              <a:rPr dirty="0"/>
              <a:t>Do keywords adequately</a:t>
            </a:r>
            <a:br>
              <a:rPr dirty="0"/>
            </a:br>
            <a:r>
              <a:rPr dirty="0"/>
              <a:t>represent the metadata?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209F85C0-A468-D6EE-C259-9A5200C6736E}"/>
              </a:ext>
            </a:extLst>
          </p:cNvPr>
          <p:cNvSpPr/>
          <p:nvPr/>
        </p:nvSpPr>
        <p:spPr>
          <a:xfrm>
            <a:off x="3581400" y="4500391"/>
            <a:ext cx="6676103" cy="1129719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Our focus: </a:t>
            </a:r>
            <a:r>
              <a:rPr lang="en-GB" i="1" dirty="0"/>
              <a:t>keyword annotations as a component of metadata quality </a:t>
            </a:r>
            <a:r>
              <a:rPr lang="en-GB" dirty="0"/>
              <a:t>and the evaluation of the </a:t>
            </a:r>
            <a:r>
              <a:rPr lang="en-GB" b="1" i="1" dirty="0"/>
              <a:t>semantic quality of keywords </a:t>
            </a:r>
            <a:r>
              <a:rPr lang="en-GB" dirty="0"/>
              <a:t>relative to titles and descriptions.</a:t>
            </a:r>
          </a:p>
        </p:txBody>
      </p:sp>
    </p:spTree>
    <p:extLst>
      <p:ext uri="{BB962C8B-B14F-4D97-AF65-F5344CB8AC3E}">
        <p14:creationId xmlns:p14="http://schemas.microsoft.com/office/powerpoint/2010/main" val="3554222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54D76-6B01-BFFC-1CA8-9F130F0F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0BA801-02BB-31BC-1445-DA5ADFCE7B15}"/>
              </a:ext>
            </a:extLst>
          </p:cNvPr>
          <p:cNvSpPr txBox="1"/>
          <p:nvPr/>
        </p:nvSpPr>
        <p:spPr>
          <a:xfrm>
            <a:off x="838200" y="638190"/>
            <a:ext cx="101591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Research Questions and Contributions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7AC6930-CB48-80CD-54C3-99DC3B984B26}"/>
              </a:ext>
            </a:extLst>
          </p:cNvPr>
          <p:cNvSpPr txBox="1">
            <a:spLocks/>
          </p:cNvSpPr>
          <p:nvPr/>
        </p:nvSpPr>
        <p:spPr bwMode="auto">
          <a:xfrm>
            <a:off x="346258" y="1812888"/>
            <a:ext cx="9790472" cy="96264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RQ1: </a:t>
            </a:r>
            <a:r>
              <a:rPr lang="en-GB" sz="2000" i="1" dirty="0"/>
              <a:t>How can established metadata quality dimensions be operationalized for analysing keyword annotations in open data portals?</a:t>
            </a:r>
            <a:endParaRPr lang="en-US" sz="2000" i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CB8F40-5797-4F0C-A537-0A3333529DD5}"/>
              </a:ext>
            </a:extLst>
          </p:cNvPr>
          <p:cNvSpPr txBox="1">
            <a:spLocks/>
          </p:cNvSpPr>
          <p:nvPr/>
        </p:nvSpPr>
        <p:spPr bwMode="auto">
          <a:xfrm>
            <a:off x="1244600" y="3170224"/>
            <a:ext cx="10439401" cy="81879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RQ2: </a:t>
            </a:r>
            <a:r>
              <a:rPr lang="en-GB" sz="2000" i="1" dirty="0"/>
              <a:t>Do the keyword annotations on open data portals adequately semantically represent the</a:t>
            </a:r>
          </a:p>
          <a:p>
            <a:r>
              <a:rPr lang="en-GB" sz="2000" i="1" dirty="0"/>
              <a:t>concepts expressed in descriptive metadata?</a:t>
            </a:r>
            <a:endParaRPr lang="en-US" sz="2000" i="1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A0C8816-C6CC-3F30-953D-E61060A37FF5}"/>
              </a:ext>
            </a:extLst>
          </p:cNvPr>
          <p:cNvSpPr txBox="1">
            <a:spLocks/>
          </p:cNvSpPr>
          <p:nvPr/>
        </p:nvSpPr>
        <p:spPr bwMode="auto">
          <a:xfrm>
            <a:off x="419098" y="4383704"/>
            <a:ext cx="11193781" cy="165133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spc="-10" dirty="0">
                <a:solidFill>
                  <a:srgbClr val="C00000"/>
                </a:solidFill>
                <a:cs typeface="Calibri"/>
              </a:rPr>
              <a:t>Contributions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Operationalizing Semantic Keyword Quality (SKQ):  </a:t>
            </a:r>
            <a:r>
              <a:rPr lang="en-GB" sz="2000" i="1" dirty="0"/>
              <a:t>Semantic Relevance </a:t>
            </a:r>
            <a:r>
              <a:rPr lang="en-GB" sz="2000" dirty="0"/>
              <a:t>and </a:t>
            </a:r>
            <a:r>
              <a:rPr lang="en-GB" sz="2000" i="1" dirty="0"/>
              <a:t>Semantic Completeness</a:t>
            </a:r>
            <a:r>
              <a:rPr lang="en-GB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Analysis of Semantic Keyword Quality: </a:t>
            </a:r>
            <a:r>
              <a:rPr lang="en-GB" sz="2000" dirty="0"/>
              <a:t>using sample data from the European Open Data Portal. 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6A75F-ADF0-8029-D212-84D21900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B1DD-BBD2-F2FE-0EF9-4D5B4142D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7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FC39AE7-8C82-26F4-E5BA-3E1685CCA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05326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6C43E-C09C-A73C-3106-03ED3D3B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9CAFD-0FCF-E5F0-C645-8CB26FDF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3C8F6-D4C7-6567-20CF-834521158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22" y="1604198"/>
            <a:ext cx="10515600" cy="21418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Based on </a:t>
            </a:r>
            <a:r>
              <a:rPr lang="en-GB" i="1" dirty="0"/>
              <a:t>metadata accuracy </a:t>
            </a:r>
            <a:r>
              <a:rPr lang="en-GB" dirty="0"/>
              <a:t>and measures the degree to which </a:t>
            </a:r>
            <a:r>
              <a:rPr lang="en-GB" i="1" dirty="0"/>
              <a:t>keyword annotations semantically align</a:t>
            </a:r>
            <a:r>
              <a:rPr lang="en-GB" dirty="0"/>
              <a:t> with associated descriptive metadata (titles and descriptions).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Aggregated relevance: </a:t>
            </a:r>
            <a:r>
              <a:rPr lang="en-GB" dirty="0"/>
              <a:t>keyword set → metadata; captures collective semantic alignment.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Average keyword-level relevance: </a:t>
            </a:r>
            <a:r>
              <a:rPr lang="en-GB" dirty="0"/>
              <a:t>individual keyword → metadata; captures alignment of individual keywords.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DE37B9-EDCB-820A-19EE-C921DA76169B}"/>
              </a:ext>
            </a:extLst>
          </p:cNvPr>
          <p:cNvSpPr txBox="1"/>
          <p:nvPr/>
        </p:nvSpPr>
        <p:spPr>
          <a:xfrm>
            <a:off x="936522" y="91411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7504AC-4A75-65B5-AE4E-99B5543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A05F8-44A4-C19A-0335-5AFF902D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8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901DAFE-A28A-D29A-B382-9CD35D1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17998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9D9FF-EEF7-0CB6-EC4D-4FF22006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33067-FB01-9E49-1D9F-8737A1778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42646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ABAC6-E810-4A1B-F853-064E3F0B0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1"/>
            <a:ext cx="10515600" cy="2141895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overall semantic alignment </a:t>
            </a:r>
            <a:r>
              <a:rPr lang="en-GB" sz="2000" dirty="0"/>
              <a:t>between the </a:t>
            </a:r>
            <a:r>
              <a:rPr lang="en-GB" sz="2000" i="1" dirty="0"/>
              <a:t>entire keyword set </a:t>
            </a:r>
            <a:r>
              <a:rPr lang="en-GB" sz="2000" dirty="0"/>
              <a:t>and a </a:t>
            </a:r>
            <a:r>
              <a:rPr lang="en-GB" sz="2000" i="1" dirty="0"/>
              <a:t>descriptive metadata field </a:t>
            </a:r>
            <a:r>
              <a:rPr lang="en-GB" sz="2000" dirty="0"/>
              <a:t>associated with a dataset.</a:t>
            </a:r>
          </a:p>
          <a:p>
            <a:pPr algn="just"/>
            <a:r>
              <a:rPr lang="en-GB" sz="2000" dirty="0"/>
              <a:t>Let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be the set of keywords assigned to dataset 𝑑,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</a:t>
            </a:r>
            <a:r>
              <a:rPr lang="en-GB" sz="2000" i="1" dirty="0"/>
              <a:t>associated descriptive metadata.</a:t>
            </a:r>
            <a:endParaRPr lang="en-GB" sz="2000" dirty="0"/>
          </a:p>
          <a:p>
            <a:pPr algn="just"/>
            <a:r>
              <a:rPr lang="en-GB" sz="2000" dirty="0"/>
              <a:t>The aggregated relevance is defined as: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A06021-6567-BA1D-BA3E-E288F95254DB}"/>
              </a:ext>
            </a:extLst>
          </p:cNvPr>
          <p:cNvSpPr txBox="1"/>
          <p:nvPr/>
        </p:nvSpPr>
        <p:spPr>
          <a:xfrm>
            <a:off x="914060" y="90003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Aggregated Semantic Relevance</a:t>
            </a:r>
            <a:endParaRPr lang="en-BE" sz="2800" b="1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D3DF47-ACA1-253B-4D5A-B7D7DA202C2F}"/>
              </a:ext>
            </a:extLst>
          </p:cNvPr>
          <p:cNvSpPr txBox="1"/>
          <p:nvPr/>
        </p:nvSpPr>
        <p:spPr>
          <a:xfrm>
            <a:off x="3078811" y="3346722"/>
            <a:ext cx="7499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𝑅𝑒𝑙</a:t>
            </a:r>
            <a:r>
              <a:rPr lang="en-GB" sz="2400" baseline="-25000" dirty="0">
                <a:solidFill>
                  <a:schemeClr val="tx2"/>
                </a:solidFill>
              </a:rPr>
              <a:t>agg</a:t>
            </a:r>
            <a:r>
              <a:rPr lang="en-GB" sz="2400" dirty="0">
                <a:solidFill>
                  <a:schemeClr val="tx2"/>
                </a:solidFill>
              </a:rPr>
              <a:t>(𝐾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, 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 = cos (𝑔({𝑓 (𝑘</a:t>
            </a:r>
            <a:r>
              <a:rPr lang="en-GB" sz="2400" baseline="-25000" dirty="0">
                <a:solidFill>
                  <a:schemeClr val="tx2"/>
                </a:solidFill>
              </a:rPr>
              <a:t>1</a:t>
            </a:r>
            <a:r>
              <a:rPr lang="en-GB" sz="2400" dirty="0">
                <a:solidFill>
                  <a:schemeClr val="tx2"/>
                </a:solidFill>
              </a:rPr>
              <a:t>), … , 𝑓 (𝑘</a:t>
            </a:r>
            <a:r>
              <a:rPr lang="en-GB" sz="2400" baseline="-25000" dirty="0">
                <a:solidFill>
                  <a:schemeClr val="tx2"/>
                </a:solidFill>
              </a:rPr>
              <a:t>𝑛</a:t>
            </a:r>
            <a:r>
              <a:rPr lang="en-GB" sz="2400" dirty="0">
                <a:solidFill>
                  <a:schemeClr val="tx2"/>
                </a:solidFill>
              </a:rPr>
              <a:t>)}), 𝑓 (𝑀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))</a:t>
            </a:r>
            <a:endParaRPr lang="en-BE" sz="2400" dirty="0">
              <a:solidFill>
                <a:schemeClr val="tx2"/>
              </a:solidFill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6C1944AC-D1B6-3FC1-944D-3F5555721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5544BE0-844E-141D-CC14-0C291C9F2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9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B1D8D201-32DF-58D4-5FD1-5361EE71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2A7B2F-6D95-840E-E173-972BCCFB7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369" y="3808387"/>
            <a:ext cx="3657917" cy="19324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8DC9BC-ABE0-26DF-AA10-53676FC77E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3363" y="3808387"/>
            <a:ext cx="4816257" cy="206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02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26D76-258F-2FE8-6148-FA7990100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EECE-316C-5FE7-C37E-E8D68FAF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39527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4597B-D4D4-A134-798F-445D2F3B8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2"/>
            <a:ext cx="10515600" cy="2693732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average semantic alignment </a:t>
            </a:r>
            <a:r>
              <a:rPr lang="en-GB" sz="2000" dirty="0"/>
              <a:t>of individual keywords with a metadata field.</a:t>
            </a:r>
          </a:p>
          <a:p>
            <a:pPr algn="just"/>
            <a:r>
              <a:rPr lang="en-GB" sz="2000" dirty="0"/>
              <a:t>Let 𝑑 ∈ 𝐷 denote a dataset,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the set of keywords assigned to 𝑑, and |𝐾</a:t>
            </a:r>
            <a:r>
              <a:rPr lang="en-GB" sz="2000" baseline="-25000" dirty="0"/>
              <a:t>𝑑</a:t>
            </a:r>
            <a:r>
              <a:rPr lang="en-GB" sz="2000" dirty="0"/>
              <a:t>| the number of keywords.</a:t>
            </a:r>
          </a:p>
          <a:p>
            <a:pPr algn="just"/>
            <a:r>
              <a:rPr lang="en-GB" sz="2000" dirty="0"/>
              <a:t>Each 𝑘 ∈ 𝐾</a:t>
            </a:r>
            <a:r>
              <a:rPr lang="en-GB" sz="2000" baseline="-25000" dirty="0"/>
              <a:t>𝑑</a:t>
            </a:r>
            <a:r>
              <a:rPr lang="en-GB" sz="2000" dirty="0"/>
              <a:t> represents an individual keyword,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denotes the dataset metadata.</a:t>
            </a:r>
          </a:p>
          <a:p>
            <a:pPr algn="just"/>
            <a:r>
              <a:rPr lang="en-GB" sz="2000" dirty="0"/>
              <a:t>The formal definition of average keyword relevance is as given: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1FD317-A65C-5DF4-986A-CDE54A65B9A4}"/>
              </a:ext>
            </a:extLst>
          </p:cNvPr>
          <p:cNvSpPr txBox="1"/>
          <p:nvPr/>
        </p:nvSpPr>
        <p:spPr>
          <a:xfrm>
            <a:off x="914060" y="842922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Average Keyword-Level Relevance</a:t>
            </a:r>
            <a:endParaRPr lang="en-BE" sz="2800" b="1" i="1" dirty="0">
              <a:solidFill>
                <a:srgbClr val="7030A0"/>
              </a:solidFill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90EA6D0-3B79-6338-A282-6473256B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48571E7-8DFF-B024-B181-0BD7A290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10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73623483-0865-9498-2D50-A6408101E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3F8812-C228-D222-2DFC-B829016CB8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71" y="3710931"/>
            <a:ext cx="6000475" cy="196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29100-4ECD-351B-9224-DABF892AA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46AE7-4DCF-C27C-9DEB-FC4BA26E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1E664-0D83-0ED8-ACDB-9B67D40BE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5181" y="1330481"/>
            <a:ext cx="10515600" cy="4511467"/>
          </a:xfrm>
        </p:spPr>
        <p:txBody>
          <a:bodyPr>
            <a:normAutofit/>
          </a:bodyPr>
          <a:lstStyle/>
          <a:p>
            <a:r>
              <a:rPr lang="en-GB" sz="2000" dirty="0"/>
              <a:t>Based on </a:t>
            </a:r>
            <a:r>
              <a:rPr lang="en-GB" sz="2000" i="1" dirty="0"/>
              <a:t>metadata completeness </a:t>
            </a:r>
            <a:r>
              <a:rPr lang="en-GB" sz="2000" dirty="0"/>
              <a:t>and measures </a:t>
            </a:r>
            <a:r>
              <a:rPr lang="en-GB" sz="2000" i="1" dirty="0"/>
              <a:t>degree to which keyword annotations semantically represent the concepts expressed in a metadata field</a:t>
            </a:r>
            <a:r>
              <a:rPr lang="en-GB" sz="2000" dirty="0"/>
              <a:t>.</a:t>
            </a:r>
          </a:p>
          <a:p>
            <a:r>
              <a:rPr lang="en-GB" sz="2000" dirty="0"/>
              <a:t>Let 𝑑 ∈ 𝐷 denote a dataset,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associated descriptive metadata and 𝐾</a:t>
            </a:r>
            <a:r>
              <a:rPr lang="en-GB" sz="2000" baseline="-25000" dirty="0"/>
              <a:t>𝑑 </a:t>
            </a:r>
            <a:r>
              <a:rPr lang="en-GB" sz="2000" dirty="0"/>
              <a:t>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the set of assigned keywords.</a:t>
            </a:r>
          </a:p>
          <a:p>
            <a:r>
              <a:rPr lang="en-GB" sz="2000" dirty="0"/>
              <a:t>Concepts operationalized using a set of metadata-derived keywords 𝐾′</a:t>
            </a:r>
            <a:r>
              <a:rPr lang="en-BE" sz="2000" baseline="-25000" dirty="0"/>
              <a:t>𝑀𝑑</a:t>
            </a:r>
            <a:r>
              <a:rPr lang="en-BE" sz="2000" dirty="0"/>
              <a:t> = {𝑘′</a:t>
            </a:r>
            <a:r>
              <a:rPr lang="en-BE" sz="2000" baseline="-25000" dirty="0"/>
              <a:t>1</a:t>
            </a:r>
            <a:r>
              <a:rPr lang="en-BE" sz="2000" dirty="0"/>
              <a:t>, … , 𝑘′</a:t>
            </a:r>
            <a:r>
              <a:rPr lang="en-BE" sz="2000" baseline="-25000" dirty="0"/>
              <a:t>𝑚</a:t>
            </a:r>
            <a:r>
              <a:rPr lang="en-GB" sz="2000" baseline="-25000" dirty="0"/>
              <a:t> </a:t>
            </a:r>
            <a:r>
              <a:rPr lang="en-GB" sz="2000" dirty="0"/>
              <a:t>} extracted from 𝑀</a:t>
            </a:r>
            <a:r>
              <a:rPr lang="en-GB" sz="2000" baseline="-25000" dirty="0"/>
              <a:t>𝑑</a:t>
            </a:r>
            <a:endParaRPr lang="en-GB" sz="2000" dirty="0"/>
          </a:p>
          <a:p>
            <a:r>
              <a:rPr lang="en-GB" sz="2000" dirty="0"/>
              <a:t>Semantic Completeness therefore defined as: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D9C39-B277-D76C-9B9D-9EBA5E121288}"/>
              </a:ext>
            </a:extLst>
          </p:cNvPr>
          <p:cNvSpPr txBox="1"/>
          <p:nvPr/>
        </p:nvSpPr>
        <p:spPr>
          <a:xfrm>
            <a:off x="936522" y="81607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Completeness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FC73633-B4D8-40AD-2749-60265FAB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3AA19-96D2-DC56-4932-05094FDC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11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697AC2-D59D-208D-E09A-34ADB965C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498F33-1A14-3545-E6BE-EB3B83D3A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181" y="3839406"/>
            <a:ext cx="6703142" cy="18403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DD1BE4-B061-2876-1050-C0878590E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9943" y="3100920"/>
            <a:ext cx="3921837" cy="13676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5559D50-B9A0-E1B7-82BB-937B53851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700" y="5086063"/>
            <a:ext cx="3755162" cy="1270287"/>
          </a:xfrm>
          <a:prstGeom prst="rect">
            <a:avLst/>
          </a:prstGeom>
        </p:spPr>
      </p:pic>
      <p:sp>
        <p:nvSpPr>
          <p:cNvPr id="17" name="Arrow: Up 16">
            <a:extLst>
              <a:ext uri="{FF2B5EF4-FFF2-40B4-BE49-F238E27FC236}">
                <a16:creationId xmlns:a16="http://schemas.microsoft.com/office/drawing/2014/main" id="{C757954F-D3D9-D3A2-289F-08D885D3C25C}"/>
              </a:ext>
            </a:extLst>
          </p:cNvPr>
          <p:cNvSpPr/>
          <p:nvPr/>
        </p:nvSpPr>
        <p:spPr>
          <a:xfrm rot="4033804">
            <a:off x="6112467" y="3259090"/>
            <a:ext cx="85413" cy="184356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AF12FDA8-0DD3-B632-2E19-D94B279A8BCF}"/>
              </a:ext>
            </a:extLst>
          </p:cNvPr>
          <p:cNvSpPr/>
          <p:nvPr/>
        </p:nvSpPr>
        <p:spPr>
          <a:xfrm rot="19407584" flipH="1">
            <a:off x="4947982" y="4817581"/>
            <a:ext cx="67785" cy="7649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6220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CB184-00C7-86A6-CB6B-3A2039A3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C1B5-E30D-649C-A226-CC6CFCCDA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D4838-A0A8-24D6-7826-34CAEBDAB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839" y="1508888"/>
            <a:ext cx="10515600" cy="959010"/>
          </a:xfrm>
        </p:spPr>
        <p:txBody>
          <a:bodyPr>
            <a:noAutofit/>
          </a:bodyPr>
          <a:lstStyle/>
          <a:p>
            <a:pPr algn="just"/>
            <a:r>
              <a:rPr lang="en-GB" sz="2000" b="1" dirty="0"/>
              <a:t> Data Source: </a:t>
            </a:r>
            <a:r>
              <a:rPr lang="en-GB" sz="2000" dirty="0"/>
              <a:t>European Open Data Portal used as a case study. 23,777 datasets from the </a:t>
            </a:r>
            <a:r>
              <a:rPr lang="en-GB" sz="2000" i="1" dirty="0"/>
              <a:t>data.gov.uk </a:t>
            </a:r>
            <a:r>
              <a:rPr lang="en-GB" sz="2000" dirty="0"/>
              <a:t>collection extracted from the metadata dump</a:t>
            </a:r>
            <a:r>
              <a:rPr lang="en-GB" sz="2000" baseline="30000" dirty="0"/>
              <a:t>4</a:t>
            </a:r>
            <a:r>
              <a:rPr lang="en-GB" sz="2000" dirty="0"/>
              <a:t>. Randomly sampled 10,000 datasets (dataset ID, title, description, and keywords).</a:t>
            </a:r>
            <a:endParaRPr lang="en-GB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D5FBE-699F-7AEB-C639-B814658FCB16}"/>
              </a:ext>
            </a:extLst>
          </p:cNvPr>
          <p:cNvSpPr txBox="1"/>
          <p:nvPr/>
        </p:nvSpPr>
        <p:spPr>
          <a:xfrm>
            <a:off x="936522" y="88839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Set up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FA71007-4A8C-1DAE-DF88-B3822AD9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46C69B-E860-D589-8FC5-746CE572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12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450ACC-ECDB-736B-CF12-83FBB85B3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0BF66F-40AC-FADF-B7BF-5240434A6693}"/>
              </a:ext>
            </a:extLst>
          </p:cNvPr>
          <p:cNvSpPr txBox="1"/>
          <p:nvPr/>
        </p:nvSpPr>
        <p:spPr>
          <a:xfrm>
            <a:off x="374855" y="5833130"/>
            <a:ext cx="114422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5. </a:t>
            </a:r>
            <a:r>
              <a:rPr lang="en-GB" sz="1400" i="1" dirty="0"/>
              <a:t>More details are in the paper</a:t>
            </a:r>
            <a:r>
              <a:rPr lang="en-GB" sz="1400" dirty="0"/>
              <a:t>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CB1A96-2814-ADDD-1815-D8EA0F794F8A}"/>
              </a:ext>
            </a:extLst>
          </p:cNvPr>
          <p:cNvSpPr txBox="1"/>
          <p:nvPr/>
        </p:nvSpPr>
        <p:spPr>
          <a:xfrm>
            <a:off x="1093839" y="2634923"/>
            <a:ext cx="105893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Keywords Baseline and the Embedding Model: </a:t>
            </a:r>
            <a:r>
              <a:rPr lang="en-GB" sz="2000" dirty="0"/>
              <a:t>metadata concepts approximated using KeyBERT and all-miniLM-L6-V2 for computing embeddings. Ablation studies done on various threshold values, embedding models and keyword extractors</a:t>
            </a:r>
            <a:r>
              <a:rPr lang="en-GB" sz="2000" baseline="30000" dirty="0"/>
              <a:t>5</a:t>
            </a:r>
            <a:r>
              <a:rPr lang="en-GB" sz="2000" dirty="0"/>
              <a:t>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8B8BBE-2875-015A-D915-56BF87AB50DD}"/>
              </a:ext>
            </a:extLst>
          </p:cNvPr>
          <p:cNvSpPr txBox="1"/>
          <p:nvPr/>
        </p:nvSpPr>
        <p:spPr>
          <a:xfrm>
            <a:off x="374855" y="5386854"/>
            <a:ext cx="1144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4. </a:t>
            </a:r>
            <a:r>
              <a:rPr lang="en-GB" sz="1400" i="1" dirty="0">
                <a:solidFill>
                  <a:srgbClr val="C00000"/>
                </a:solidFill>
              </a:rPr>
              <a:t>https://data.europa.eu/en/download-datasets</a:t>
            </a:r>
            <a:r>
              <a:rPr lang="en-GB" dirty="0"/>
              <a:t>, </a:t>
            </a:r>
            <a:r>
              <a:rPr lang="en-GB" sz="1400" dirty="0"/>
              <a:t>accessed on 16 April 2026.</a:t>
            </a:r>
            <a:endParaRPr lang="en-BE" sz="1400" dirty="0"/>
          </a:p>
        </p:txBody>
      </p:sp>
    </p:spTree>
    <p:extLst>
      <p:ext uri="{BB962C8B-B14F-4D97-AF65-F5344CB8AC3E}">
        <p14:creationId xmlns:p14="http://schemas.microsoft.com/office/powerpoint/2010/main" val="147623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allAtOnce"/>
      <p:bldP spid="9" grpId="0" build="allAtOnce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8462F-C944-1175-0CB6-D8B675837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9C1AF-6D20-8E41-ECAB-BF48C5165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1D39D-648F-2271-2ACC-0FEBA4D2B015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8A143-4FAB-217E-07C6-766937CF9ACC}"/>
              </a:ext>
            </a:extLst>
          </p:cNvPr>
          <p:cNvSpPr txBox="1"/>
          <p:nvPr/>
        </p:nvSpPr>
        <p:spPr>
          <a:xfrm>
            <a:off x="3690901" y="1600200"/>
            <a:ext cx="480714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relevance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E1EC35C-ACDC-9580-B4B0-B54344143437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2194560"/>
          <a:ext cx="1090879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B30027-B23E-067B-BE6E-5C707B43D9EC}"/>
              </a:ext>
            </a:extLst>
          </p:cNvPr>
          <p:cNvSpPr txBox="1"/>
          <p:nvPr/>
        </p:nvSpPr>
        <p:spPr>
          <a:xfrm>
            <a:off x="2047763" y="4389120"/>
            <a:ext cx="797455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rPr sz="2000" dirty="0"/>
              <a:t>Agg = Aggregated keyword relevance; Avg = Average keyword relevance.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6E2676-A284-1919-EF9A-EFC1203ED14B}"/>
              </a:ext>
            </a:extLst>
          </p:cNvPr>
          <p:cNvSpPr txBox="1"/>
          <p:nvPr/>
        </p:nvSpPr>
        <p:spPr>
          <a:xfrm>
            <a:off x="835742" y="5132439"/>
            <a:ext cx="9910916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Keyword sets are generally semantically related to the metadata, but alignment is low-to-moderate.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Individual keywords are less aligned than keyword sets collectively.</a:t>
            </a:r>
            <a:endParaRPr lang="en-BE" sz="2000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904B3F3-8007-27B3-D260-463DE12A3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6052C4-FDA5-4BD3-9ACB-93B3F957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13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7821E4B7-2C57-3F88-F542-5A4CC91A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933475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2671B-DBE6-A591-0D0B-CD207BA4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33B5-3CE9-0F9F-0735-B0417C46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5307D8-04AB-C326-D902-664641CBC4E0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F9F1469-35B2-6019-0193-4C1C41FC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C874AB1-DD9B-4A4A-4050-CCBB5D4C8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14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16B4D01-77BC-AB0B-A6FB-6147B3852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ADEE29-6FA3-7A8C-27ED-3A0B2969D592}"/>
              </a:ext>
            </a:extLst>
          </p:cNvPr>
          <p:cNvSpPr txBox="1"/>
          <p:nvPr/>
        </p:nvSpPr>
        <p:spPr>
          <a:xfrm>
            <a:off x="3050457" y="1485647"/>
            <a:ext cx="5680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Illustrative Examples of Semantic Relevance</a:t>
            </a:r>
            <a:endParaRPr lang="en-BE" b="1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E1B712-A368-9577-E530-461037929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08867"/>
            <a:ext cx="4884843" cy="35436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BECB7E8-2587-9589-2179-0D7E27121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8" y="2008867"/>
            <a:ext cx="5257801" cy="35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67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2B1FA-025B-AB4F-F6BE-A1C260439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41EF4-A6A8-D8EF-A73B-D4B2452CD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379C3D-3A54-81C4-CF46-FD5F471865F6}"/>
              </a:ext>
            </a:extLst>
          </p:cNvPr>
          <p:cNvSpPr txBox="1"/>
          <p:nvPr/>
        </p:nvSpPr>
        <p:spPr>
          <a:xfrm>
            <a:off x="936521" y="87794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FB1532-31A6-0355-E694-EEF9B27A8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876" y="1748456"/>
            <a:ext cx="10420441" cy="36864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2BF704-9D0E-97C4-BC2D-306B5643F7CB}"/>
              </a:ext>
            </a:extLst>
          </p:cNvPr>
          <p:cNvSpPr txBox="1"/>
          <p:nvPr/>
        </p:nvSpPr>
        <p:spPr>
          <a:xfrm>
            <a:off x="1585450" y="142310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aggregated semantic relevance</a:t>
            </a:r>
            <a:endParaRPr lang="en-BE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835E3E-DDC0-56A8-5A49-293BDA20D36C}"/>
              </a:ext>
            </a:extLst>
          </p:cNvPr>
          <p:cNvSpPr txBox="1"/>
          <p:nvPr/>
        </p:nvSpPr>
        <p:spPr>
          <a:xfrm>
            <a:off x="1256070" y="5736785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semantic relevance.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7090B63-D097-B3D7-36E5-7562EE66E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1C5FC9D-3AD4-D03B-DE70-D15EA3121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15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8E2480F-B094-F3F7-8A01-799C13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999270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CF2BB-FCD4-0713-ED74-5DCAB8EDF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7180-0C9B-3E17-DA5D-FF1A1663A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D2BA06-B733-628F-1F9C-4E6345B02A77}"/>
              </a:ext>
            </a:extLst>
          </p:cNvPr>
          <p:cNvSpPr txBox="1"/>
          <p:nvPr/>
        </p:nvSpPr>
        <p:spPr>
          <a:xfrm>
            <a:off x="936521" y="87794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B674218-BE8C-8E58-F3BB-01E46D03E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F02E624-C555-2B92-2844-24976909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16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767C7D5-5688-6DBD-21C5-932811206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30A6AE-32E1-195A-E98E-8078BE7BF3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24872"/>
            <a:ext cx="10311581" cy="44582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968A2E-2815-D1BC-8DFA-57F807A8D02E}"/>
              </a:ext>
            </a:extLst>
          </p:cNvPr>
          <p:cNvSpPr txBox="1"/>
          <p:nvPr/>
        </p:nvSpPr>
        <p:spPr>
          <a:xfrm>
            <a:off x="1585450" y="142310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aggregated semantic relevance</a:t>
            </a:r>
            <a:endParaRPr lang="en-BE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376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481FD-2049-19A7-3896-E97087E9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9B8A1-5AE0-B1E1-6A08-76CC12059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74987-7DD0-42C1-801E-53E8BF8827E1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71C799-F683-5D59-485E-54C22D708EDE}"/>
              </a:ext>
            </a:extLst>
          </p:cNvPr>
          <p:cNvSpPr txBox="1"/>
          <p:nvPr/>
        </p:nvSpPr>
        <p:spPr>
          <a:xfrm>
            <a:off x="3510126" y="1504101"/>
            <a:ext cx="536839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completeness</a:t>
            </a:r>
            <a:r>
              <a:rPr dirty="0">
                <a:solidFill>
                  <a:srgbClr val="002060"/>
                </a:solidFill>
              </a:rPr>
              <a:t>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11266FE-EF1B-E388-E49F-6D214F4B3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636927"/>
              </p:ext>
            </p:extLst>
          </p:nvPr>
        </p:nvGraphicFramePr>
        <p:xfrm>
          <a:off x="2020086" y="1984220"/>
          <a:ext cx="834847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8AF543D-E6F7-9EDD-3979-3DED178E3568}"/>
              </a:ext>
            </a:extLst>
          </p:cNvPr>
          <p:cNvSpPr txBox="1"/>
          <p:nvPr/>
        </p:nvSpPr>
        <p:spPr>
          <a:xfrm>
            <a:off x="1170039" y="4316361"/>
            <a:ext cx="979292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Keyword annotations cover only a limited portion of the concepts expressed in descriptive metadata.</a:t>
            </a:r>
          </a:p>
          <a:p>
            <a:endParaRPr lang="en-BE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5A63F5E-1BCC-59EC-FF47-23EDE7CD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513594A-45E3-35EC-1352-71E912E8D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17</a:t>
            </a:fld>
            <a:endParaRPr lang="en-BE" b="1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B478931C-3D53-FBE2-6926-BA216E7B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67929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D06A1-B9B0-E014-E467-4158F3315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B5A1-4AAC-ED1A-888D-11B7ABA8A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17E5D3-83BD-EDC0-9C96-389FC114A953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C9CCC172-FFAE-3604-129C-121313E93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8965A9E2-D41F-63BB-3F6C-9803EA8EA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18</a:t>
            </a:fld>
            <a:endParaRPr lang="en-BE" b="1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7146A34-C38E-F822-ADC6-8DAE68A6C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CD72E9-68DF-6C02-2233-BB3D7B926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93" y="1904211"/>
            <a:ext cx="5725278" cy="41333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D9EA22-4E03-0BA3-30F5-3F51AB33798B}"/>
              </a:ext>
            </a:extLst>
          </p:cNvPr>
          <p:cNvSpPr txBox="1"/>
          <p:nvPr/>
        </p:nvSpPr>
        <p:spPr>
          <a:xfrm>
            <a:off x="3050457" y="1485647"/>
            <a:ext cx="5680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Illustrative Examples of Semantic Completeness</a:t>
            </a:r>
            <a:endParaRPr lang="en-BE" b="1" dirty="0">
              <a:solidFill>
                <a:schemeClr val="accent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3802BF-1EE9-2485-341B-E7D767B93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209" y="1945207"/>
            <a:ext cx="5456393" cy="409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49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BA13A-7671-CD04-0B8E-52D78420B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7F1A-5223-BC5F-FDE7-3776B6E10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8154FE-1547-B3E9-AD7B-2B0F4B242F9C}"/>
              </a:ext>
            </a:extLst>
          </p:cNvPr>
          <p:cNvSpPr txBox="1"/>
          <p:nvPr/>
        </p:nvSpPr>
        <p:spPr>
          <a:xfrm>
            <a:off x="1103670" y="1508886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semantic Completeness</a:t>
            </a:r>
            <a:endParaRPr lang="en-BE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35B0D-A318-13DB-235C-3CF719C9E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70" y="2024567"/>
            <a:ext cx="9929352" cy="3573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7142C4-7673-08D0-90F7-7FC0834C925A}"/>
              </a:ext>
            </a:extLst>
          </p:cNvPr>
          <p:cNvSpPr txBox="1"/>
          <p:nvPr/>
        </p:nvSpPr>
        <p:spPr>
          <a:xfrm>
            <a:off x="1248697" y="5830529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semantic completeness.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E6CAC31-E9E5-04DB-592C-6D7620B95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25E7F8-23FB-2C4C-0F95-7BC39B498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19</a:t>
            </a:fld>
            <a:endParaRPr lang="en-BE" b="1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8DF2DED-0F70-FE82-6D5D-8E0964D85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7B5DCF-85C7-33D7-86B4-13D0318D2DAF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</p:spTree>
    <p:extLst>
      <p:ext uri="{BB962C8B-B14F-4D97-AF65-F5344CB8AC3E}">
        <p14:creationId xmlns:p14="http://schemas.microsoft.com/office/powerpoint/2010/main" val="75142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8E7A-3755-ED5B-36B4-E03D1DC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9555F-DD75-146E-1828-00634FA1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B1E8EF-4037-01F6-3DFC-56790CD6208C}"/>
              </a:ext>
            </a:extLst>
          </p:cNvPr>
          <p:cNvSpPr txBox="1"/>
          <p:nvPr/>
        </p:nvSpPr>
        <p:spPr>
          <a:xfrm>
            <a:off x="936522" y="835964"/>
            <a:ext cx="101272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 versus Semantic Completeness</a:t>
            </a:r>
            <a:endParaRPr lang="en-BE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6BF45-2A99-E6D2-AAD5-39FEAE3202FB}"/>
              </a:ext>
            </a:extLst>
          </p:cNvPr>
          <p:cNvSpPr txBox="1"/>
          <p:nvPr/>
        </p:nvSpPr>
        <p:spPr>
          <a:xfrm>
            <a:off x="936522" y="2212258"/>
            <a:ext cx="948812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Semantic relevance exhibits </a:t>
            </a:r>
            <a:r>
              <a:rPr lang="en-GB" sz="2000" i="1" dirty="0"/>
              <a:t>low alignment </a:t>
            </a:r>
            <a:r>
              <a:rPr lang="en-GB" sz="2000" dirty="0"/>
              <a:t>(mean aggregated relevance of 0.44 and 0.41 for titles and descriptions, respectively), semantic completeness remains substantially lower (title mean = 0.33; description mean = 0.28).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dirty="0"/>
              <a:t>Data governance perspective: </a:t>
            </a:r>
            <a:r>
              <a:rPr lang="en-GB" sz="2000" dirty="0"/>
              <a:t>current metadata curation practices within open data portals need to consider both aspects of semantic keyword quality. 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Data annotation guidelines to consider not only: “Are keywords present?”, but also: “Do keywords accurately and comprehensively represent the semantic content of the metadata?”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88B01-5740-46CA-5319-955F7204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74B8E3-8E5D-24C7-1114-F188113FA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20</a:t>
            </a:fld>
            <a:endParaRPr lang="en-BE" b="1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CB9A856-935D-71A7-F742-1EAAFFD98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16650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6ECB-4565-79A4-3CA3-E1AE9EF6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CD4-0D1B-8441-29A7-B11DFA919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690" y="17187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Conclusion and Future Works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6972F9-17C8-7627-F878-58C9B2D2FCBE}"/>
              </a:ext>
            </a:extLst>
          </p:cNvPr>
          <p:cNvSpPr txBox="1"/>
          <p:nvPr/>
        </p:nvSpPr>
        <p:spPr>
          <a:xfrm>
            <a:off x="1088923" y="521564"/>
            <a:ext cx="9488129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We operationalize existing metadata quality metrics to analyse </a:t>
            </a:r>
            <a:r>
              <a:rPr lang="en-GB" sz="2000" b="1" dirty="0"/>
              <a:t>semantic keyword quality</a:t>
            </a:r>
            <a:r>
              <a:rPr lang="en-GB" sz="2000" dirty="0"/>
              <a:t> in terms of </a:t>
            </a:r>
            <a:r>
              <a:rPr lang="en-GB" sz="2000" i="1" dirty="0">
                <a:solidFill>
                  <a:srgbClr val="0070C0"/>
                </a:solidFill>
              </a:rPr>
              <a:t>semantic relevance </a:t>
            </a:r>
            <a:r>
              <a:rPr lang="en-GB" sz="2000" dirty="0"/>
              <a:t>and </a:t>
            </a:r>
            <a:r>
              <a:rPr lang="en-GB" sz="2000" i="1" dirty="0">
                <a:solidFill>
                  <a:srgbClr val="0070C0"/>
                </a:solidFill>
              </a:rPr>
              <a:t>semantic completeness</a:t>
            </a:r>
            <a:r>
              <a:rPr lang="en-GB" sz="2000" dirty="0"/>
              <a:t>. 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Keywords are </a:t>
            </a:r>
            <a:r>
              <a:rPr lang="en-GB" sz="2000" i="1" dirty="0"/>
              <a:t>generally semantically </a:t>
            </a:r>
            <a:r>
              <a:rPr lang="en-GB" sz="2000" dirty="0"/>
              <a:t>related to metadata, but keyword coverage of metadata concepts is limited. 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Current Limitation: </a:t>
            </a:r>
            <a:r>
              <a:rPr lang="en-GB" sz="2000" dirty="0"/>
              <a:t>Semantic completeness currently relies on </a:t>
            </a:r>
            <a:r>
              <a:rPr lang="en-GB" sz="2000" i="1" dirty="0"/>
              <a:t>automatically extracted metadata </a:t>
            </a:r>
            <a:r>
              <a:rPr lang="en-GB" sz="2000" dirty="0"/>
              <a:t>concepts rather than </a:t>
            </a:r>
            <a:r>
              <a:rPr lang="en-GB" sz="2000" i="1" dirty="0"/>
              <a:t>human-validated concepts.</a:t>
            </a:r>
            <a:endParaRPr lang="en-GB" sz="2000" b="1" i="1" dirty="0"/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Next steps: </a:t>
            </a:r>
            <a:r>
              <a:rPr lang="en-GB" sz="2000" dirty="0"/>
              <a:t>develop a human-annotated reference dataset, validate computational SKQ against human judgments, and investigate whether higher SKQ improves dataset discoverability and retrieval.</a:t>
            </a:r>
            <a:endParaRPr lang="en-GB" sz="2000" b="1" i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F20E9-AA6B-D11D-0274-AC52A739A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745E3-6C84-6571-1E57-01B0182C8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21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769E4-A519-B387-C9E5-3EF7BE0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64F6AF-20D0-B959-B37C-9D0BD30BF5D7}"/>
              </a:ext>
            </a:extLst>
          </p:cNvPr>
          <p:cNvSpPr txBox="1"/>
          <p:nvPr/>
        </p:nvSpPr>
        <p:spPr>
          <a:xfrm>
            <a:off x="2012196" y="4058358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GitHub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A6849-911B-BD00-6CCB-207F0843E3B9}"/>
              </a:ext>
            </a:extLst>
          </p:cNvPr>
          <p:cNvSpPr txBox="1"/>
          <p:nvPr/>
        </p:nvSpPr>
        <p:spPr>
          <a:xfrm>
            <a:off x="3178887" y="3812393"/>
            <a:ext cx="101272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i="1" dirty="0">
                <a:solidFill>
                  <a:srgbClr val="7030A0"/>
                </a:solidFill>
              </a:rPr>
              <a:t>Availability of Resources: </a:t>
            </a:r>
            <a:r>
              <a:rPr lang="en-GB" sz="2000" b="1" i="1" dirty="0"/>
              <a:t>Code and Data</a:t>
            </a:r>
            <a:endParaRPr lang="en-BE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30DA9-4777-4BEC-BB13-24903C3D9BBC}"/>
              </a:ext>
            </a:extLst>
          </p:cNvPr>
          <p:cNvSpPr txBox="1"/>
          <p:nvPr/>
        </p:nvSpPr>
        <p:spPr>
          <a:xfrm>
            <a:off x="154584" y="6093744"/>
            <a:ext cx="6942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1600" dirty="0">
                <a:solidFill>
                  <a:srgbClr val="C00000"/>
                </a:solidFill>
              </a:rPr>
              <a:t>https://github.com/DeperiasKerre/keyword_quality_eval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E201AF-3FFB-5ABF-7069-13E6B869A16E}"/>
              </a:ext>
            </a:extLst>
          </p:cNvPr>
          <p:cNvSpPr txBox="1"/>
          <p:nvPr/>
        </p:nvSpPr>
        <p:spPr>
          <a:xfrm>
            <a:off x="8098176" y="4085224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Zenodo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2A645-F66D-E5F8-6B14-EA394742C2FB}"/>
              </a:ext>
            </a:extLst>
          </p:cNvPr>
          <p:cNvSpPr txBox="1"/>
          <p:nvPr/>
        </p:nvSpPr>
        <p:spPr>
          <a:xfrm>
            <a:off x="6879772" y="609374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0" i="0" u="none" strike="noStrike" baseline="0" dirty="0">
                <a:solidFill>
                  <a:srgbClr val="C00000"/>
                </a:solidFill>
                <a:latin typeface="LibertinusSerif-Regular"/>
              </a:rPr>
              <a:t>https://doi.org/10.5281/zenodo.22108459</a:t>
            </a:r>
            <a:endParaRPr lang="en-BE" sz="1600" dirty="0">
              <a:solidFill>
                <a:srgbClr val="C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53AEA4-6EA1-6289-F61B-857B736DD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691" y="4402771"/>
            <a:ext cx="1727823" cy="17278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BECBF4-7196-F740-3744-77FC92725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1562" y="4458468"/>
            <a:ext cx="1654041" cy="1654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12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4" grpId="0"/>
      <p:bldP spid="10" grpId="0"/>
      <p:bldP spid="11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1434</Words>
  <Application>Microsoft Office PowerPoint</Application>
  <PresentationFormat>Widescreen</PresentationFormat>
  <Paragraphs>195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Abadi</vt:lpstr>
      <vt:lpstr>Aptos</vt:lpstr>
      <vt:lpstr>Aptos Display</vt:lpstr>
      <vt:lpstr>Arial</vt:lpstr>
      <vt:lpstr>Calibri</vt:lpstr>
      <vt:lpstr>LibertinusSerif-Regular</vt:lpstr>
      <vt:lpstr>Office Theme</vt:lpstr>
      <vt:lpstr>Are the Provided Keywords on Open Data Portals Semantically Complete and Relevant? An Exploratory Study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Introducing Semantic Keyword Quality</vt:lpstr>
      <vt:lpstr>Introducing Semantic Keyword Quality</vt:lpstr>
      <vt:lpstr>Introducing Semantic Keyword Quality</vt:lpstr>
      <vt:lpstr>Introducing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Conclusion and Future 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Kerre Deperias</dc:creator>
  <cp:lastModifiedBy>Kerre Deperias</cp:lastModifiedBy>
  <cp:revision>160</cp:revision>
  <dcterms:created xsi:type="dcterms:W3CDTF">2026-09-04T12:50:27Z</dcterms:created>
  <dcterms:modified xsi:type="dcterms:W3CDTF">2026-09-11T13:10:42Z</dcterms:modified>
</cp:coreProperties>
</file>