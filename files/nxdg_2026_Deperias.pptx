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7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5D3ED2-8864-4DD6-A3F8-C2211C0978B4}" type="datetimeFigureOut">
              <a:rPr lang="en-BE" smtClean="0"/>
              <a:t>08/09/2026</a:t>
            </a:fld>
            <a:endParaRPr lang="en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E8D2CC-85FC-47EA-B96A-383D3259522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6597422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14923-E2FB-4ACC-79FD-439B546EEC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583CEB-8EB4-CAEB-0771-1A489BD226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D7359A-C251-2C75-600C-6E85D0C22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BE"/>
              <a:t>15/09/2026</a:t>
            </a:r>
            <a:endParaRPr lang="en-B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A15F1-8935-7524-4C62-68A22909F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NXDG 2026 -Ghent, Belgium</a:t>
            </a:r>
            <a:endParaRPr lang="en-B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86DEDC-2873-B442-B798-7098907F7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CF0F1-4288-4E20-A5EE-551BC0760B6A}" type="slidenum">
              <a:rPr lang="en-BE" smtClean="0"/>
              <a:t>‹#›</a:t>
            </a:fld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23509186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68B81-E84E-D385-F913-9C974A142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73C75D-FEF9-BF98-8DC9-9B096A2188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9778ED-C81C-3C99-0599-359CCBC46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BE"/>
              <a:t>15/09/2026</a:t>
            </a:r>
            <a:endParaRPr lang="en-B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F952A2-2A78-E186-AB4F-9D487FA53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NXDG 2026 -Ghent, Belgium</a:t>
            </a:r>
            <a:endParaRPr lang="en-B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4697A9-F891-C036-5D26-2A49E14D6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CF0F1-4288-4E20-A5EE-551BC0760B6A}" type="slidenum">
              <a:rPr lang="en-BE" smtClean="0"/>
              <a:t>‹#›</a:t>
            </a:fld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336945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187F7-A96C-E5F9-AC60-054C6CF86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3D9AD9-D93B-B575-001E-46A9C547AF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6EC426-EC0A-E655-D5C5-03DF011C3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BE"/>
              <a:t>15/09/2026</a:t>
            </a:r>
            <a:endParaRPr lang="en-B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EEB05E-E155-01DD-AB6B-A51BFBF2D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NXDG 2026 -Ghent, Belgium</a:t>
            </a:r>
            <a:endParaRPr lang="en-B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B7ECB6-C8BB-BF32-A5E5-93349387C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CF0F1-4288-4E20-A5EE-551BC0760B6A}" type="slidenum">
              <a:rPr lang="en-BE" smtClean="0"/>
              <a:t>‹#›</a:t>
            </a:fld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40396431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FC05A-883C-0DA9-45A8-03E154C68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A43233-0FA4-6E33-E10F-9B4BFB2121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2DC038-2822-A47B-FF56-C0A688CD42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5C1E7C-F5F2-7FF7-48D8-5D6C507B5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BE"/>
              <a:t>15/09/2026</a:t>
            </a:r>
            <a:endParaRPr lang="en-B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1418A1-3DF3-173F-C567-77E167573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NXDG 2026 -Ghent, Belgium</a:t>
            </a:r>
            <a:endParaRPr lang="en-B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8EAF81-0EDE-400B-87CF-59181EE8E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CF0F1-4288-4E20-A5EE-551BC0760B6A}" type="slidenum">
              <a:rPr lang="en-BE" smtClean="0"/>
              <a:t>‹#›</a:t>
            </a:fld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16570652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69AB4-DDA6-46CA-9D9D-1C3E21061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1A03E9-5D82-481F-AA7C-98ADAEAB4D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665394-A9C6-4B68-0C0C-10C1930D82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343CBB-A671-7347-EFCE-105204B2BD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F5D920-189A-DF4A-6A9B-7EC043451E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6BDFD9-1D68-EBAB-0C7B-08298DB7D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BE"/>
              <a:t>15/09/2026</a:t>
            </a:r>
            <a:endParaRPr lang="en-BE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69FDC7-BF7C-159B-51B7-136AF411D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NXDG 2026 -Ghent, Belgium</a:t>
            </a:r>
            <a:endParaRPr lang="en-BE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C2DB11-F90D-EBEF-6AD9-979A8B954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CF0F1-4288-4E20-A5EE-551BC0760B6A}" type="slidenum">
              <a:rPr lang="en-BE" smtClean="0"/>
              <a:t>‹#›</a:t>
            </a:fld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15824961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4E564-D0F3-E21B-0729-B35D5EF54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468FC2-3E77-DCD4-8135-9A01FE8B8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BE"/>
              <a:t>15/09/2026</a:t>
            </a:r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84E358-5856-604C-29E2-D92C91AFA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NXDG 2026 -Ghent, Belgium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7E49DC-1723-3D31-45A9-DF004E508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CF0F1-4288-4E20-A5EE-551BC0760B6A}" type="slidenum">
              <a:rPr lang="en-BE" smtClean="0"/>
              <a:t>‹#›</a:t>
            </a:fld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18017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1E60EF-3E87-5204-05FD-6F9079666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BE"/>
              <a:t>15/09/2026</a:t>
            </a:r>
            <a:endParaRPr lang="en-B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10C9F1-AEF3-F91D-1430-ED271EF95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NXDG 2026 -Ghent, Belgium</a:t>
            </a:r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241A91-5B1A-463E-E68A-75BB5CEBD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CF0F1-4288-4E20-A5EE-551BC0760B6A}" type="slidenum">
              <a:rPr lang="en-BE" smtClean="0"/>
              <a:t>‹#›</a:t>
            </a:fld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39642647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0AE2C-C282-8F83-C799-27643C561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D21686-FE86-DDA6-5CA5-10B8787B81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9E55E3-5FD5-3D8C-563F-B0DE632DE6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A70F9D-0C45-5D6A-7099-C57801063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BE"/>
              <a:t>15/09/2026</a:t>
            </a:r>
            <a:endParaRPr lang="en-B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F993D7-1A6F-B176-A548-4023A9A14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NXDG 2026 -Ghent, Belgium</a:t>
            </a:r>
            <a:endParaRPr lang="en-B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42C3D3-A001-A700-1224-A8105BE00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CF0F1-4288-4E20-A5EE-551BC0760B6A}" type="slidenum">
              <a:rPr lang="en-BE" smtClean="0"/>
              <a:t>‹#›</a:t>
            </a:fld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3286302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54D77-13C7-3336-1AD8-18DC8910E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CA0EC7-4E14-1710-AFC1-3ECE4F3D0F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B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DCA56-5CD7-D66B-2648-73C9990A7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D8D3BB-4613-944A-E85C-B49536856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BE"/>
              <a:t>15/09/2026</a:t>
            </a:r>
            <a:endParaRPr lang="en-B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126CF1-5C3F-2F4A-71ED-5D56F502C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NXDG 2026 -Ghent, Belgium</a:t>
            </a:r>
            <a:endParaRPr lang="en-B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3D0E8D-25F9-3DB1-62D8-CADF67CFD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CF0F1-4288-4E20-A5EE-551BC0760B6A}" type="slidenum">
              <a:rPr lang="en-BE" smtClean="0"/>
              <a:t>‹#›</a:t>
            </a:fld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32712051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66BB7-562D-77E7-C1A6-35F386818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76BC80-2E0B-8B1A-6F9F-4879C13FF2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F211C4-00FB-2EB7-7037-E6EDE275A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BE"/>
              <a:t>15/09/2026</a:t>
            </a:r>
            <a:endParaRPr lang="en-B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651826-0B7A-5DFA-388C-0FD91FFAD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NXDG 2026 -Ghent, Belgium</a:t>
            </a:r>
            <a:endParaRPr lang="en-B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60495C-E582-1B2F-C198-70057392E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CF0F1-4288-4E20-A5EE-551BC0760B6A}" type="slidenum">
              <a:rPr lang="en-BE" smtClean="0"/>
              <a:t>‹#›</a:t>
            </a:fld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5070636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2DBC8DF-AF8C-F37C-AC0E-85D650E259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B71574-112E-231D-2092-ECAB9A3EEE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E53D28-9374-007D-FE6E-D0F636F40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BE"/>
              <a:t>15/09/2026</a:t>
            </a:r>
            <a:endParaRPr lang="en-B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446C6A-8616-86CC-11FB-96EF6EB5C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NXDG 2026 -Ghent, Belgium</a:t>
            </a:r>
            <a:endParaRPr lang="en-B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42915F-BEA7-2C61-86FE-AA042D373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CF0F1-4288-4E20-A5EE-551BC0760B6A}" type="slidenum">
              <a:rPr lang="en-BE" smtClean="0"/>
              <a:t>‹#›</a:t>
            </a:fld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5784450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  <a:alpha val="23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526B83-F3CA-9E1D-1CCF-E8C3715FC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176063-D28E-CE04-9CD5-0B7D845F14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49E072-40DF-341A-BEDA-653CF46F4E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BE"/>
              <a:t>15/09/2026</a:t>
            </a:r>
            <a:endParaRPr lang="en-B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935372-1EC6-FF84-D406-6E495914A7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GB"/>
              <a:t>NXDG 2026 -Ghent, Belgium</a:t>
            </a:r>
            <a:endParaRPr lang="en-B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DC4262-4F1B-99A7-D3D4-230EC2D9B3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5CF0F1-4288-4E20-A5EE-551BC0760B6A}" type="slidenum">
              <a:rPr lang="en-BE" smtClean="0"/>
              <a:t>‹#›</a:t>
            </a:fld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2474714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8399E-6433-2D69-6DD0-BE75FF6CB8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0635" y="661734"/>
            <a:ext cx="10264878" cy="993823"/>
          </a:xfrm>
        </p:spPr>
        <p:txBody>
          <a:bodyPr>
            <a:normAutofit/>
          </a:bodyPr>
          <a:lstStyle/>
          <a:p>
            <a:pPr algn="l"/>
            <a:r>
              <a:rPr lang="en-GB" sz="2800" b="1" dirty="0">
                <a:solidFill>
                  <a:srgbClr val="002060"/>
                </a:solidFill>
                <a:latin typeface="Abadi ExtraLight" panose="020F0502020204030204" pitchFamily="34" charset="0"/>
              </a:rPr>
              <a:t>Are the Provided Keywords on Open Data Portals Semantically Complete and Relevant? An Exploratory Study</a:t>
            </a:r>
            <a:endParaRPr lang="en-BE" sz="2800" b="1" dirty="0">
              <a:solidFill>
                <a:srgbClr val="002060"/>
              </a:solidFill>
              <a:latin typeface="Abadi ExtraLight" panose="020F0502020204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750AE7-BF28-379A-4C56-04BB27203F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0439" y="2399070"/>
            <a:ext cx="10982632" cy="2231436"/>
          </a:xfrm>
        </p:spPr>
        <p:txBody>
          <a:bodyPr>
            <a:normAutofit fontScale="92500" lnSpcReduction="10000"/>
          </a:bodyPr>
          <a:lstStyle/>
          <a:p>
            <a:r>
              <a:rPr lang="en-GB" b="1" dirty="0">
                <a:latin typeface="Abadi ExtraLight" panose="020B0204020104020204" pitchFamily="34" charset="0"/>
              </a:rPr>
              <a:t>Deperias Kerre</a:t>
            </a:r>
            <a:r>
              <a:rPr lang="en-GB" dirty="0">
                <a:latin typeface="Abadi ExtraLight" panose="020B0204020104020204" pitchFamily="34" charset="0"/>
              </a:rPr>
              <a:t>, Christophe Debruyne</a:t>
            </a:r>
          </a:p>
          <a:p>
            <a:endParaRPr lang="en-BE" dirty="0"/>
          </a:p>
          <a:p>
            <a:r>
              <a:rPr lang="en-GB" dirty="0">
                <a:solidFill>
                  <a:srgbClr val="C00000"/>
                </a:solidFill>
              </a:rPr>
              <a:t>3</a:t>
            </a:r>
            <a:r>
              <a:rPr lang="en-GB" baseline="30000" dirty="0">
                <a:solidFill>
                  <a:srgbClr val="C00000"/>
                </a:solidFill>
              </a:rPr>
              <a:t>rd</a:t>
            </a:r>
            <a:r>
              <a:rPr lang="en-GB" dirty="0">
                <a:solidFill>
                  <a:srgbClr val="C00000"/>
                </a:solidFill>
              </a:rPr>
              <a:t>  NeXt-generation Data Governance workshop 2026 (NXDG 2026), co-located with SEMANTiCS 2026</a:t>
            </a:r>
          </a:p>
          <a:p>
            <a:endParaRPr lang="en-GB" dirty="0"/>
          </a:p>
          <a:p>
            <a:r>
              <a:rPr lang="en-GB" dirty="0"/>
              <a:t>Ghent, Belgium, September 15, 2026</a:t>
            </a:r>
            <a:endParaRPr lang="en-BE" dirty="0"/>
          </a:p>
        </p:txBody>
      </p:sp>
      <p:pic>
        <p:nvPicPr>
          <p:cNvPr id="6" name="Google Shape;71;p17">
            <a:extLst>
              <a:ext uri="{FF2B5EF4-FFF2-40B4-BE49-F238E27FC236}">
                <a16:creationId xmlns:a16="http://schemas.microsoft.com/office/drawing/2014/main" id="{9F8D64BB-0807-BA15-738D-ADF1AC1B998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159" r="159"/>
          <a:stretch/>
        </p:blipFill>
        <p:spPr>
          <a:xfrm>
            <a:off x="8618268" y="5454446"/>
            <a:ext cx="2251000" cy="882062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70;p17">
            <a:extLst>
              <a:ext uri="{FF2B5EF4-FFF2-40B4-BE49-F238E27FC236}">
                <a16:creationId xmlns:a16="http://schemas.microsoft.com/office/drawing/2014/main" id="{09E74978-85D2-4B2C-961E-F40A9A089DF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70" b="60"/>
          <a:stretch/>
        </p:blipFill>
        <p:spPr>
          <a:xfrm>
            <a:off x="978603" y="5342686"/>
            <a:ext cx="3554730" cy="9938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070762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FE64B3-E599-D71D-D48E-EBF3C9EB68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5349" y="1908996"/>
            <a:ext cx="10515600" cy="922694"/>
          </a:xfrm>
        </p:spPr>
        <p:txBody>
          <a:bodyPr>
            <a:normAutofit/>
          </a:bodyPr>
          <a:lstStyle/>
          <a:p>
            <a:pPr>
              <a:spcAft>
                <a:spcPts val="1000"/>
              </a:spcAft>
              <a:defRPr sz="2000"/>
            </a:pPr>
            <a:r>
              <a:rPr lang="en-GB" dirty="0"/>
              <a:t>  Open data portals such as the European Open Data Portal contain increasingly large collections of datasets.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83D87F-8AB0-0E62-48F9-88E066D318DF}"/>
              </a:ext>
            </a:extLst>
          </p:cNvPr>
          <p:cNvSpPr txBox="1"/>
          <p:nvPr/>
        </p:nvSpPr>
        <p:spPr>
          <a:xfrm>
            <a:off x="1005349" y="635341"/>
            <a:ext cx="101272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i="1" dirty="0">
                <a:solidFill>
                  <a:srgbClr val="7030A0"/>
                </a:solidFill>
              </a:rPr>
              <a:t>Metadata as an Enabler of Dataset Discovery</a:t>
            </a:r>
            <a:endParaRPr lang="en-BE" sz="2800" b="1" dirty="0">
              <a:solidFill>
                <a:srgbClr val="7030A0"/>
              </a:solidFill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78923C-5E91-F33E-67B6-D2EA51483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BE" b="1" dirty="0"/>
              <a:t>15/09/2026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9DD7A0-02E7-DB11-A9C2-93D2069A4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CF0F1-4288-4E20-A5EE-551BC0760B6A}" type="slidenum">
              <a:rPr lang="en-BE" b="1" smtClean="0"/>
              <a:t>2</a:t>
            </a:fld>
            <a:endParaRPr lang="en-BE" b="1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BC523E4-B571-6222-4272-0BF0A486D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b="1" dirty="0"/>
              <a:t>NXDG 2026 -Ghent, Belgium</a:t>
            </a:r>
            <a:endParaRPr lang="en-BE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D813BD-6CE1-53B5-D747-231701184C05}"/>
              </a:ext>
            </a:extLst>
          </p:cNvPr>
          <p:cNvSpPr txBox="1"/>
          <p:nvPr/>
        </p:nvSpPr>
        <p:spPr>
          <a:xfrm>
            <a:off x="374855" y="5833130"/>
            <a:ext cx="114422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1. J. Attard, F. Orlandi, S. Scerri, S. Auer, A systematic review of open government data initiatives, Government Information Quarterly 32 (2015) 399–418. doi:10.1016/j.giq.2015.07.006.</a:t>
            </a:r>
            <a:endParaRPr lang="en-BE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4296E4-A743-2781-06BD-348401D01214}"/>
              </a:ext>
            </a:extLst>
          </p:cNvPr>
          <p:cNvSpPr txBox="1"/>
          <p:nvPr/>
        </p:nvSpPr>
        <p:spPr>
          <a:xfrm>
            <a:off x="1005349" y="2831690"/>
            <a:ext cx="106163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lang="en-GB" dirty="0"/>
              <a:t>Data discovery usually through metadata and based on the </a:t>
            </a:r>
            <a:r>
              <a:rPr lang="en-GB" b="1" i="1" dirty="0"/>
              <a:t>quality of the metadata </a:t>
            </a:r>
            <a:r>
              <a:rPr lang="en-GB" dirty="0"/>
              <a:t>that describes it [1].</a:t>
            </a:r>
            <a:endParaRPr lang="en-BE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5F0404C-1ADB-E757-A343-1FA5CBF099A1}"/>
              </a:ext>
            </a:extLst>
          </p:cNvPr>
          <p:cNvSpPr txBox="1"/>
          <p:nvPr/>
        </p:nvSpPr>
        <p:spPr>
          <a:xfrm>
            <a:off x="1005349" y="3775848"/>
            <a:ext cx="10616380" cy="11131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lang="en-GB" dirty="0"/>
              <a:t>Keywords support metadata search yet the quality of keywords in relation to the descriptive metadata is unexplored. </a:t>
            </a:r>
          </a:p>
          <a:p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4061136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allAtOnce"/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9B1335-A20E-49BA-E22F-5AA52D98E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424A8D-A02E-08F6-5BD0-AB9D681E53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5349" y="1908996"/>
            <a:ext cx="10515600" cy="2171391"/>
          </a:xfrm>
        </p:spPr>
        <p:txBody>
          <a:bodyPr>
            <a:normAutofit/>
          </a:bodyPr>
          <a:lstStyle/>
          <a:p>
            <a:r>
              <a:rPr lang="en-GB" sz="2000" b="1" i="1" dirty="0"/>
              <a:t>Metadata-driven dataset discovery in open data portals: </a:t>
            </a:r>
            <a:r>
              <a:rPr lang="en-GB" sz="2000" dirty="0"/>
              <a:t>Datasets typically discovered through metadata rather than direct access to their contents.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AAA621-6C52-934E-15A3-54858DCE07A1}"/>
              </a:ext>
            </a:extLst>
          </p:cNvPr>
          <p:cNvSpPr txBox="1"/>
          <p:nvPr/>
        </p:nvSpPr>
        <p:spPr>
          <a:xfrm>
            <a:off x="1005349" y="632515"/>
            <a:ext cx="101272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i="1" dirty="0">
                <a:solidFill>
                  <a:srgbClr val="7030A0"/>
                </a:solidFill>
              </a:rPr>
              <a:t>Why Keywords?</a:t>
            </a:r>
            <a:endParaRPr lang="en-BE" sz="2800" b="1" dirty="0">
              <a:solidFill>
                <a:srgbClr val="7030A0"/>
              </a:solidFill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E749AD-D9E9-58FF-7F87-A7DFF8D7F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BE" b="1" dirty="0"/>
              <a:t>15/09/2026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D147F6-7617-A884-8911-AEAEEA96B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CF0F1-4288-4E20-A5EE-551BC0760B6A}" type="slidenum">
              <a:rPr lang="en-BE" b="1" smtClean="0"/>
              <a:t>3</a:t>
            </a:fld>
            <a:endParaRPr lang="en-BE" b="1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8F22D52-96CD-9FE7-07E7-6AA3FCCEE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b="1" dirty="0"/>
              <a:t>NXDG 2026 -Ghent, Belgium</a:t>
            </a:r>
            <a:endParaRPr lang="en-BE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605477-941C-2283-721F-EDB4F4948587}"/>
              </a:ext>
            </a:extLst>
          </p:cNvPr>
          <p:cNvSpPr txBox="1"/>
          <p:nvPr/>
        </p:nvSpPr>
        <p:spPr>
          <a:xfrm>
            <a:off x="374855" y="5833130"/>
            <a:ext cx="114422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2. I. Peters, W. G. Stock, Folksonomy and information retrieval, Proceedings of the American Society for Information Science and Technology 44 (2007) 1–28. doi:10.1002/meet.1450440226.</a:t>
            </a:r>
            <a:endParaRPr lang="en-BE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0B2068-FC6B-1F84-6B23-D6759FEE7DFC}"/>
              </a:ext>
            </a:extLst>
          </p:cNvPr>
          <p:cNvSpPr txBox="1"/>
          <p:nvPr/>
        </p:nvSpPr>
        <p:spPr>
          <a:xfrm>
            <a:off x="1005349" y="3029872"/>
            <a:ext cx="101272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1" i="1" dirty="0"/>
              <a:t>Keywords as Thematic Descriptors: </a:t>
            </a:r>
            <a:r>
              <a:rPr lang="en-GB" sz="2000" dirty="0"/>
              <a:t>“documents are linked thematically with each other when they have been indexed with the same tags” [2]. </a:t>
            </a:r>
          </a:p>
        </p:txBody>
      </p:sp>
    </p:spTree>
    <p:extLst>
      <p:ext uri="{BB962C8B-B14F-4D97-AF65-F5344CB8AC3E}">
        <p14:creationId xmlns:p14="http://schemas.microsoft.com/office/powerpoint/2010/main" val="2932923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allAtOnce"/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B0285E-699B-0871-85A3-64627F6FE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3145229-B323-1694-CCE3-72D82CADAC92}"/>
              </a:ext>
            </a:extLst>
          </p:cNvPr>
          <p:cNvSpPr txBox="1"/>
          <p:nvPr/>
        </p:nvSpPr>
        <p:spPr>
          <a:xfrm>
            <a:off x="1005349" y="589764"/>
            <a:ext cx="108117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i="1" dirty="0">
                <a:solidFill>
                  <a:srgbClr val="7030A0"/>
                </a:solidFill>
              </a:rPr>
              <a:t>The Problem: </a:t>
            </a:r>
            <a:r>
              <a:rPr lang="en-GB" sz="2800" b="1" i="1" dirty="0"/>
              <a:t>A</a:t>
            </a:r>
            <a:r>
              <a:rPr lang="en-GB" sz="2800" b="1" i="1" dirty="0">
                <a:solidFill>
                  <a:srgbClr val="7030A0"/>
                </a:solidFill>
              </a:rPr>
              <a:t> </a:t>
            </a:r>
            <a:r>
              <a:rPr lang="en-GB" sz="2800" b="1" i="1" dirty="0"/>
              <a:t>Semantic Gap in Keyword Quality Assessment</a:t>
            </a:r>
            <a:endParaRPr lang="en-BE" sz="2800" b="1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E659C5-0AF6-BC41-E269-AAF9E906D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BE" b="1" dirty="0"/>
              <a:t>15/09/2026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6108F6-EBBE-9DD3-252A-67BE5A46F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CF0F1-4288-4E20-A5EE-551BC0760B6A}" type="slidenum">
              <a:rPr lang="en-BE" b="1" smtClean="0"/>
              <a:t>4</a:t>
            </a:fld>
            <a:endParaRPr lang="en-BE" b="1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C3229CE-E692-D103-453A-703614B61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b="1" dirty="0"/>
              <a:t>NXDG 2026 -Ghent, Belgium</a:t>
            </a:r>
            <a:endParaRPr lang="en-BE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DF24C1-919C-EF2F-CD8A-3D9F84850074}"/>
              </a:ext>
            </a:extLst>
          </p:cNvPr>
          <p:cNvSpPr txBox="1"/>
          <p:nvPr/>
        </p:nvSpPr>
        <p:spPr>
          <a:xfrm>
            <a:off x="374855" y="5833130"/>
            <a:ext cx="114422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3. J. Martinez-Gil, Framework to automatically determine the quality of open data </a:t>
            </a:r>
            <a:r>
              <a:rPr lang="en-GB" sz="1400" dirty="0" err="1"/>
              <a:t>catalogs</a:t>
            </a:r>
            <a:r>
              <a:rPr lang="en-GB" sz="1400" dirty="0"/>
              <a:t>, Expert Systems with Applications 289 (2025) 128379. doi:10.1016/j.eswa.2025.128379.</a:t>
            </a:r>
            <a:endParaRPr lang="en-BE" sz="1400" dirty="0"/>
          </a:p>
        </p:txBody>
      </p:sp>
      <p:sp>
        <p:nvSpPr>
          <p:cNvPr id="15" name="Rounded Rectangle 2">
            <a:extLst>
              <a:ext uri="{FF2B5EF4-FFF2-40B4-BE49-F238E27FC236}">
                <a16:creationId xmlns:a16="http://schemas.microsoft.com/office/drawing/2014/main" id="{BBBE1D36-9974-69D5-F811-16989F0CA2B1}"/>
              </a:ext>
            </a:extLst>
          </p:cNvPr>
          <p:cNvSpPr/>
          <p:nvPr/>
        </p:nvSpPr>
        <p:spPr>
          <a:xfrm>
            <a:off x="731520" y="1310808"/>
            <a:ext cx="3383280" cy="3063240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228600" rtlCol="0" anchor="ctr"/>
          <a:lstStyle/>
          <a:p>
            <a:pPr algn="ctr">
              <a:defRPr sz="2100" b="1"/>
            </a:pPr>
            <a:r>
              <a:rPr dirty="0"/>
              <a:t>Existing Metadata Quality</a:t>
            </a:r>
            <a:r>
              <a:rPr lang="en-GB" dirty="0"/>
              <a:t> Metrics [3]</a:t>
            </a:r>
            <a:endParaRPr dirty="0"/>
          </a:p>
          <a:p>
            <a:pPr>
              <a:spcBef>
                <a:spcPts val="1200"/>
              </a:spcBef>
              <a:defRPr sz="1800"/>
            </a:pPr>
            <a:r>
              <a:rPr dirty="0"/>
              <a:t>✓  Completeness</a:t>
            </a:r>
          </a:p>
          <a:p>
            <a:pPr>
              <a:spcBef>
                <a:spcPts val="1200"/>
              </a:spcBef>
              <a:defRPr sz="1800"/>
            </a:pPr>
            <a:r>
              <a:rPr dirty="0"/>
              <a:t>✓  Accuracy</a:t>
            </a:r>
          </a:p>
          <a:p>
            <a:pPr>
              <a:spcBef>
                <a:spcPts val="1200"/>
              </a:spcBef>
              <a:defRPr sz="1800"/>
            </a:pPr>
            <a:r>
              <a:rPr dirty="0"/>
              <a:t>✓  Consistency</a:t>
            </a:r>
          </a:p>
          <a:p>
            <a:pPr>
              <a:spcBef>
                <a:spcPts val="1200"/>
              </a:spcBef>
              <a:defRPr sz="1800"/>
            </a:pPr>
            <a:r>
              <a:rPr dirty="0"/>
              <a:t>✓  Accessibility</a:t>
            </a:r>
          </a:p>
          <a:p>
            <a:pPr>
              <a:spcBef>
                <a:spcPts val="1200"/>
              </a:spcBef>
              <a:defRPr sz="1800"/>
            </a:pPr>
            <a:r>
              <a:rPr dirty="0"/>
              <a:t>✓  Interoperability</a:t>
            </a:r>
          </a:p>
        </p:txBody>
      </p:sp>
      <p:sp>
        <p:nvSpPr>
          <p:cNvPr id="16" name="Right Arrow 3">
            <a:extLst>
              <a:ext uri="{FF2B5EF4-FFF2-40B4-BE49-F238E27FC236}">
                <a16:creationId xmlns:a16="http://schemas.microsoft.com/office/drawing/2014/main" id="{074EC3CB-5EC1-8287-774D-15A1798627D5}"/>
              </a:ext>
            </a:extLst>
          </p:cNvPr>
          <p:cNvSpPr/>
          <p:nvPr/>
        </p:nvSpPr>
        <p:spPr>
          <a:xfrm>
            <a:off x="4434840" y="2440527"/>
            <a:ext cx="1463040" cy="914400"/>
          </a:xfrm>
          <a:prstGeom prst="rightArrow">
            <a:avLst/>
          </a:prstGeom>
          <a:solidFill>
            <a:schemeClr val="tx2">
              <a:lumMod val="90000"/>
              <a:lumOff val="1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/>
            </a:pPr>
            <a:r>
              <a:rPr dirty="0"/>
              <a:t>BUT</a:t>
            </a:r>
          </a:p>
        </p:txBody>
      </p:sp>
      <p:sp>
        <p:nvSpPr>
          <p:cNvPr id="17" name="Rounded Rectangle 4">
            <a:extLst>
              <a:ext uri="{FF2B5EF4-FFF2-40B4-BE49-F238E27FC236}">
                <a16:creationId xmlns:a16="http://schemas.microsoft.com/office/drawing/2014/main" id="{5867FF1D-5FF1-4384-2F4B-9AEFE709A39A}"/>
              </a:ext>
            </a:extLst>
          </p:cNvPr>
          <p:cNvSpPr/>
          <p:nvPr/>
        </p:nvSpPr>
        <p:spPr>
          <a:xfrm>
            <a:off x="5956382" y="1648339"/>
            <a:ext cx="4797896" cy="2224747"/>
          </a:xfrm>
          <a:prstGeom prst="roundRect">
            <a:avLst/>
          </a:prstGeom>
          <a:solidFill>
            <a:schemeClr val="accent4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20040" tIns="228600" rIns="320040" rtlCol="0" anchor="ctr"/>
          <a:lstStyle/>
          <a:p>
            <a:pPr algn="ctr">
              <a:defRPr sz="4400" b="1"/>
            </a:pPr>
            <a:r>
              <a:rPr dirty="0"/>
              <a:t>?</a:t>
            </a:r>
          </a:p>
          <a:p>
            <a:pPr algn="ctr">
              <a:defRPr sz="2700" b="1"/>
            </a:pPr>
            <a:r>
              <a:rPr dirty="0"/>
              <a:t>Do keywords adequately</a:t>
            </a:r>
            <a:br>
              <a:rPr dirty="0"/>
            </a:br>
            <a:r>
              <a:rPr dirty="0"/>
              <a:t>represent the metadata?</a:t>
            </a:r>
          </a:p>
        </p:txBody>
      </p:sp>
      <p:sp>
        <p:nvSpPr>
          <p:cNvPr id="18" name="Rounded Rectangle 5">
            <a:extLst>
              <a:ext uri="{FF2B5EF4-FFF2-40B4-BE49-F238E27FC236}">
                <a16:creationId xmlns:a16="http://schemas.microsoft.com/office/drawing/2014/main" id="{209F85C0-A468-D6EE-C259-9A5200C6736E}"/>
              </a:ext>
            </a:extLst>
          </p:cNvPr>
          <p:cNvSpPr/>
          <p:nvPr/>
        </p:nvSpPr>
        <p:spPr>
          <a:xfrm>
            <a:off x="3581400" y="4500391"/>
            <a:ext cx="6676103" cy="1129719"/>
          </a:xfrm>
          <a:prstGeom prst="roundRect">
            <a:avLst/>
          </a:prstGeom>
          <a:solidFill>
            <a:schemeClr val="bg2">
              <a:lumMod val="2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lang="en-GB" dirty="0"/>
              <a:t>Our focus: </a:t>
            </a:r>
            <a:r>
              <a:rPr lang="en-GB" i="1" dirty="0"/>
              <a:t>keyword annotations as a component of metadata quality </a:t>
            </a:r>
            <a:r>
              <a:rPr lang="en-GB" dirty="0"/>
              <a:t>and the evaluation of the </a:t>
            </a:r>
            <a:r>
              <a:rPr lang="en-GB" b="1" i="1" dirty="0"/>
              <a:t>semantic quality of keywords </a:t>
            </a:r>
            <a:r>
              <a:rPr lang="en-GB" dirty="0"/>
              <a:t>relative to titles and descriptions.</a:t>
            </a:r>
          </a:p>
        </p:txBody>
      </p:sp>
    </p:spTree>
    <p:extLst>
      <p:ext uri="{BB962C8B-B14F-4D97-AF65-F5344CB8AC3E}">
        <p14:creationId xmlns:p14="http://schemas.microsoft.com/office/powerpoint/2010/main" val="3554222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5" grpId="0" animBg="1"/>
      <p:bldP spid="16" grpId="0" animBg="1"/>
      <p:bldP spid="17" grpId="0" animBg="1"/>
      <p:bldP spid="1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D54D76-6B01-BFFC-1CA8-9F130F0F2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60BA801-02BB-31BC-1445-DA5ADFCE7B15}"/>
              </a:ext>
            </a:extLst>
          </p:cNvPr>
          <p:cNvSpPr txBox="1"/>
          <p:nvPr/>
        </p:nvSpPr>
        <p:spPr>
          <a:xfrm>
            <a:off x="838200" y="638190"/>
            <a:ext cx="101591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i="1" dirty="0">
                <a:solidFill>
                  <a:srgbClr val="7030A0"/>
                </a:solidFill>
              </a:rPr>
              <a:t>Research Questions and Contributions</a:t>
            </a:r>
            <a:endParaRPr lang="en-BE" sz="2800" b="1" dirty="0">
              <a:solidFill>
                <a:srgbClr val="7030A0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7AC6930-CB48-80CD-54C3-99DC3B984B26}"/>
              </a:ext>
            </a:extLst>
          </p:cNvPr>
          <p:cNvSpPr txBox="1">
            <a:spLocks/>
          </p:cNvSpPr>
          <p:nvPr/>
        </p:nvSpPr>
        <p:spPr bwMode="auto">
          <a:xfrm>
            <a:off x="346258" y="1812888"/>
            <a:ext cx="9790472" cy="96264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b="1" i="1" dirty="0"/>
              <a:t>RQ1: </a:t>
            </a:r>
            <a:r>
              <a:rPr lang="en-GB" sz="2000" i="1" dirty="0"/>
              <a:t>How can established metadata quality dimensions be operationalized for analysing keyword annotations in open data portals?</a:t>
            </a:r>
            <a:endParaRPr lang="en-US" sz="2000" i="1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1CB8F40-5797-4F0C-A537-0A3333529DD5}"/>
              </a:ext>
            </a:extLst>
          </p:cNvPr>
          <p:cNvSpPr txBox="1">
            <a:spLocks/>
          </p:cNvSpPr>
          <p:nvPr/>
        </p:nvSpPr>
        <p:spPr bwMode="auto">
          <a:xfrm>
            <a:off x="1244600" y="3170224"/>
            <a:ext cx="10439401" cy="81879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b="1" i="1" dirty="0"/>
              <a:t>RQ2: </a:t>
            </a:r>
            <a:r>
              <a:rPr lang="en-GB" sz="2000" i="1" dirty="0"/>
              <a:t>Do the keyword annotations on open data portals adequately semantically represent the</a:t>
            </a:r>
          </a:p>
          <a:p>
            <a:r>
              <a:rPr lang="en-GB" sz="2000" i="1" dirty="0"/>
              <a:t>concepts expressed in descriptive metadata?</a:t>
            </a:r>
            <a:endParaRPr lang="en-US" sz="2000" i="1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A0C8816-C6CC-3F30-953D-E61060A37FF5}"/>
              </a:ext>
            </a:extLst>
          </p:cNvPr>
          <p:cNvSpPr txBox="1">
            <a:spLocks/>
          </p:cNvSpPr>
          <p:nvPr/>
        </p:nvSpPr>
        <p:spPr bwMode="auto">
          <a:xfrm>
            <a:off x="419098" y="4383704"/>
            <a:ext cx="11193781" cy="165133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spc="-10" dirty="0">
                <a:solidFill>
                  <a:srgbClr val="C00000"/>
                </a:solidFill>
                <a:cs typeface="Calibri"/>
              </a:rPr>
              <a:t>Contributions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1" dirty="0"/>
              <a:t>Operationalizing Semantic Keyword Quality (SKQ):  </a:t>
            </a:r>
            <a:r>
              <a:rPr lang="en-GB" sz="2000" i="1" dirty="0"/>
              <a:t>Semantic Relevance </a:t>
            </a:r>
            <a:r>
              <a:rPr lang="en-GB" sz="2000" dirty="0"/>
              <a:t>and </a:t>
            </a:r>
            <a:r>
              <a:rPr lang="en-GB" sz="2000" i="1" dirty="0"/>
              <a:t>Semantic Completeness</a:t>
            </a:r>
            <a:r>
              <a:rPr lang="en-GB" sz="20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1" dirty="0"/>
              <a:t>Analysis of Semantic Keyword Quality: </a:t>
            </a:r>
            <a:r>
              <a:rPr lang="en-GB" sz="2000" dirty="0"/>
              <a:t>using sample data from the European Open Data Portal. </a:t>
            </a:r>
            <a:endParaRPr lang="en-US" sz="2000" dirty="0">
              <a:solidFill>
                <a:schemeClr val="tx2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F6A75F-ADF0-8029-D212-84D21900B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BE" b="1" dirty="0"/>
              <a:t>15/09/2026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B5B1DD-BBD2-F2FE-0EF9-4D5B4142D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CF0F1-4288-4E20-A5EE-551BC0760B6A}" type="slidenum">
              <a:rPr lang="en-BE" b="1" smtClean="0"/>
              <a:t>5</a:t>
            </a:fld>
            <a:endParaRPr lang="en-BE" b="1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FC39AE7-8C82-26F4-E5BA-3E1685CCA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b="1" dirty="0"/>
              <a:t>NXDG 2026 -Ghent, Belgium</a:t>
            </a:r>
            <a:endParaRPr lang="en-BE" b="1" dirty="0"/>
          </a:p>
        </p:txBody>
      </p:sp>
    </p:spTree>
    <p:extLst>
      <p:ext uri="{BB962C8B-B14F-4D97-AF65-F5344CB8AC3E}">
        <p14:creationId xmlns:p14="http://schemas.microsoft.com/office/powerpoint/2010/main" val="3605326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  <p:bldP spid="1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56C43E-C09C-A73C-3106-03ED3D3B7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9CAFD-0FCF-E5F0-C645-8CB26FDF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22" y="443784"/>
            <a:ext cx="10515600" cy="372294"/>
          </a:xfrm>
        </p:spPr>
        <p:txBody>
          <a:bodyPr>
            <a:normAutofit fontScale="90000"/>
          </a:bodyPr>
          <a:lstStyle/>
          <a:p>
            <a:r>
              <a:rPr lang="en-GB" sz="3600" i="1" dirty="0">
                <a:solidFill>
                  <a:srgbClr val="002060"/>
                </a:solidFill>
                <a:latin typeface="+mn-lt"/>
              </a:rPr>
              <a:t>Introducing Semantic Keyword Quality</a:t>
            </a:r>
            <a:endParaRPr lang="en-BE" sz="3600" i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C3C8F6-D4C7-6567-20CF-834521158E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5349" y="1908997"/>
            <a:ext cx="10515600" cy="2141894"/>
          </a:xfrm>
        </p:spPr>
        <p:txBody>
          <a:bodyPr>
            <a:normAutofit/>
          </a:bodyPr>
          <a:lstStyle/>
          <a:p>
            <a:pPr>
              <a:spcAft>
                <a:spcPts val="1000"/>
              </a:spcAft>
              <a:defRPr sz="2000"/>
            </a:pPr>
            <a:r>
              <a:rPr lang="en-GB" dirty="0"/>
              <a:t>Based on </a:t>
            </a:r>
            <a:r>
              <a:rPr lang="en-GB" i="1" dirty="0"/>
              <a:t>metadata accuracy </a:t>
            </a:r>
            <a:r>
              <a:rPr lang="en-GB" dirty="0"/>
              <a:t>and measures the degree to which </a:t>
            </a:r>
            <a:r>
              <a:rPr lang="en-GB" i="1" dirty="0"/>
              <a:t>keyword annotations semantically align</a:t>
            </a:r>
            <a:r>
              <a:rPr lang="en-GB" dirty="0"/>
              <a:t> with associated descriptive metadata (titles and descriptions).</a:t>
            </a:r>
          </a:p>
          <a:p>
            <a:pPr>
              <a:spcAft>
                <a:spcPts val="1000"/>
              </a:spcAft>
              <a:defRPr sz="2000"/>
            </a:pPr>
            <a:r>
              <a:rPr lang="en-GB" dirty="0"/>
              <a:t>Aggregated relevance: keyword set → metadata; captures collective semantic alignment.</a:t>
            </a:r>
          </a:p>
          <a:p>
            <a:pPr>
              <a:spcAft>
                <a:spcPts val="1000"/>
              </a:spcAft>
              <a:defRPr sz="2000"/>
            </a:pPr>
            <a:r>
              <a:rPr lang="en-GB" dirty="0"/>
              <a:t>Average keyword-level relevance: individual keyword → metadata; captures alignment of individual keywords.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DE37B9-EDCB-820A-19EE-C921DA76169B}"/>
              </a:ext>
            </a:extLst>
          </p:cNvPr>
          <p:cNvSpPr txBox="1"/>
          <p:nvPr/>
        </p:nvSpPr>
        <p:spPr>
          <a:xfrm>
            <a:off x="936522" y="1162482"/>
            <a:ext cx="101272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i="1" dirty="0">
                <a:solidFill>
                  <a:srgbClr val="7030A0"/>
                </a:solidFill>
              </a:rPr>
              <a:t>Semantic Relevance</a:t>
            </a:r>
            <a:endParaRPr lang="en-BE" sz="2800" b="1" dirty="0">
              <a:solidFill>
                <a:srgbClr val="7030A0"/>
              </a:solidFill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7504AC-4A75-65B5-AE4E-99B554306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BE" b="1" dirty="0"/>
              <a:t>15/09/2026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3A05F8-44A4-C19A-0335-5AFF902D4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CF0F1-4288-4E20-A5EE-551BC0760B6A}" type="slidenum">
              <a:rPr lang="en-BE" b="1" smtClean="0"/>
              <a:t>6</a:t>
            </a:fld>
            <a:endParaRPr lang="en-BE" b="1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901DAFE-A28A-D29A-B382-9CD35D1D1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b="1" dirty="0"/>
              <a:t>NXDG 2026 -Ghent, Belgium</a:t>
            </a:r>
            <a:endParaRPr lang="en-BE" b="1" dirty="0"/>
          </a:p>
        </p:txBody>
      </p:sp>
    </p:spTree>
    <p:extLst>
      <p:ext uri="{BB962C8B-B14F-4D97-AF65-F5344CB8AC3E}">
        <p14:creationId xmlns:p14="http://schemas.microsoft.com/office/powerpoint/2010/main" val="2179980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B9D9FF-EEF7-0CB6-EC4D-4FF220066E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33067-FB01-9E49-1D9F-8737A1778B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060" y="426465"/>
            <a:ext cx="10515600" cy="372294"/>
          </a:xfrm>
        </p:spPr>
        <p:txBody>
          <a:bodyPr>
            <a:normAutofit fontScale="90000"/>
          </a:bodyPr>
          <a:lstStyle/>
          <a:p>
            <a:r>
              <a:rPr lang="en-GB" sz="3600" i="1" dirty="0">
                <a:solidFill>
                  <a:srgbClr val="002060"/>
                </a:solidFill>
                <a:latin typeface="+mn-lt"/>
              </a:rPr>
              <a:t>Introducing Semantic Keyword Quality</a:t>
            </a:r>
            <a:endParaRPr lang="en-BE" sz="3600" i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EABAC6-E810-4A1B-F853-064E3F0B0C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060" y="1504641"/>
            <a:ext cx="10515600" cy="2697355"/>
          </a:xfrm>
        </p:spPr>
        <p:txBody>
          <a:bodyPr>
            <a:noAutofit/>
          </a:bodyPr>
          <a:lstStyle/>
          <a:p>
            <a:pPr algn="just"/>
            <a:r>
              <a:rPr lang="en-GB" sz="2000" dirty="0"/>
              <a:t>Measures the </a:t>
            </a:r>
            <a:r>
              <a:rPr lang="en-GB" sz="2000" i="1" dirty="0"/>
              <a:t>overall semantic alignment </a:t>
            </a:r>
            <a:r>
              <a:rPr lang="en-GB" sz="2000" dirty="0"/>
              <a:t>between the </a:t>
            </a:r>
            <a:r>
              <a:rPr lang="en-GB" sz="2000" i="1" dirty="0"/>
              <a:t>entire keyword set </a:t>
            </a:r>
            <a:r>
              <a:rPr lang="en-GB" sz="2000" dirty="0"/>
              <a:t>and a </a:t>
            </a:r>
            <a:r>
              <a:rPr lang="en-GB" sz="2000" i="1" dirty="0"/>
              <a:t>descriptive metadata field </a:t>
            </a:r>
            <a:r>
              <a:rPr lang="en-GB" sz="2000" dirty="0"/>
              <a:t>associated with a dataset.</a:t>
            </a:r>
          </a:p>
          <a:p>
            <a:pPr algn="just"/>
            <a:r>
              <a:rPr lang="en-GB" sz="2000" dirty="0"/>
              <a:t>Let 𝐾</a:t>
            </a:r>
            <a:r>
              <a:rPr lang="en-GB" sz="2000" baseline="-25000" dirty="0"/>
              <a:t>𝑑</a:t>
            </a:r>
            <a:r>
              <a:rPr lang="en-GB" sz="2000" dirty="0"/>
              <a:t> = {𝑘</a:t>
            </a:r>
            <a:r>
              <a:rPr lang="en-GB" sz="2000" baseline="-25000" dirty="0"/>
              <a:t>1</a:t>
            </a:r>
            <a:r>
              <a:rPr lang="en-GB" sz="2000" dirty="0"/>
              <a:t>, … , 𝑘</a:t>
            </a:r>
            <a:r>
              <a:rPr lang="en-GB" sz="2000" baseline="-25000" dirty="0"/>
              <a:t>𝑛</a:t>
            </a:r>
            <a:r>
              <a:rPr lang="en-GB" sz="2000" dirty="0"/>
              <a:t>} be the set of keywords assigned to dataset 𝑑, and 𝑀</a:t>
            </a:r>
            <a:r>
              <a:rPr lang="en-GB" sz="2000" baseline="-25000" dirty="0"/>
              <a:t>𝑑</a:t>
            </a:r>
            <a:r>
              <a:rPr lang="en-GB" sz="2000" dirty="0"/>
              <a:t> ∈ {𝑡</a:t>
            </a:r>
            <a:r>
              <a:rPr lang="en-GB" sz="2000" baseline="-25000" dirty="0"/>
              <a:t>𝑑</a:t>
            </a:r>
            <a:r>
              <a:rPr lang="en-GB" sz="2000" dirty="0"/>
              <a:t>, 𝑑𝑒𝑠𝑐</a:t>
            </a:r>
            <a:r>
              <a:rPr lang="en-GB" sz="2000" baseline="-25000" dirty="0"/>
              <a:t>𝑑</a:t>
            </a:r>
            <a:r>
              <a:rPr lang="en-GB" sz="2000" dirty="0"/>
              <a:t>} represent the </a:t>
            </a:r>
            <a:r>
              <a:rPr lang="en-GB" sz="2000" i="1" dirty="0"/>
              <a:t>associated descriptive metadata</a:t>
            </a:r>
            <a:r>
              <a:rPr lang="en-GB" sz="2000" dirty="0"/>
              <a:t>, where 𝑀𝑑 consist of the dataset title or description. </a:t>
            </a:r>
          </a:p>
          <a:p>
            <a:pPr algn="just"/>
            <a:r>
              <a:rPr lang="en-GB" sz="2000" dirty="0"/>
              <a:t>Let 𝑓 (⋅) denote the </a:t>
            </a:r>
            <a:r>
              <a:rPr lang="en-GB" sz="2000" i="1" dirty="0"/>
              <a:t>embedding function</a:t>
            </a:r>
            <a:r>
              <a:rPr lang="en-GB" sz="2000" dirty="0"/>
              <a:t>, and 𝑔(⋅) denote </a:t>
            </a:r>
            <a:r>
              <a:rPr lang="en-GB" sz="2000" i="1" dirty="0"/>
              <a:t>an aggregation function </a:t>
            </a:r>
            <a:r>
              <a:rPr lang="en-GB" sz="2000" dirty="0"/>
              <a:t>that combines the semantic representations of all keywords into a collective representation.</a:t>
            </a:r>
          </a:p>
          <a:p>
            <a:pPr algn="just"/>
            <a:r>
              <a:rPr lang="en-GB" sz="2000" dirty="0"/>
              <a:t>The aggregated relevance is defined as: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A06021-6567-BA1D-BA3E-E288F95254DB}"/>
              </a:ext>
            </a:extLst>
          </p:cNvPr>
          <p:cNvSpPr txBox="1"/>
          <p:nvPr/>
        </p:nvSpPr>
        <p:spPr>
          <a:xfrm>
            <a:off x="914060" y="900038"/>
            <a:ext cx="101272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i="1" dirty="0">
                <a:solidFill>
                  <a:srgbClr val="7030A0"/>
                </a:solidFill>
              </a:rPr>
              <a:t>Semantic Relevance: </a:t>
            </a:r>
            <a:r>
              <a:rPr lang="en-GB" sz="2800" b="1" i="1" dirty="0"/>
              <a:t>Aggregated Semantic Relevance</a:t>
            </a:r>
            <a:endParaRPr lang="en-BE" sz="2800" b="1" i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D3DF47-ACA1-253B-4D5A-B7D7DA202C2F}"/>
              </a:ext>
            </a:extLst>
          </p:cNvPr>
          <p:cNvSpPr txBox="1"/>
          <p:nvPr/>
        </p:nvSpPr>
        <p:spPr>
          <a:xfrm>
            <a:off x="3097163" y="4664419"/>
            <a:ext cx="74995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chemeClr val="tx2"/>
                </a:solidFill>
              </a:rPr>
              <a:t>𝑅𝑒𝑙</a:t>
            </a:r>
            <a:r>
              <a:rPr lang="en-GB" sz="2400" baseline="-25000" dirty="0">
                <a:solidFill>
                  <a:schemeClr val="tx2"/>
                </a:solidFill>
              </a:rPr>
              <a:t>agg</a:t>
            </a:r>
            <a:r>
              <a:rPr lang="en-GB" sz="2400" dirty="0">
                <a:solidFill>
                  <a:schemeClr val="tx2"/>
                </a:solidFill>
              </a:rPr>
              <a:t>(𝐾</a:t>
            </a:r>
            <a:r>
              <a:rPr lang="en-GB" sz="2400" baseline="-25000" dirty="0">
                <a:solidFill>
                  <a:schemeClr val="tx2"/>
                </a:solidFill>
              </a:rPr>
              <a:t>𝑑</a:t>
            </a:r>
            <a:r>
              <a:rPr lang="en-GB" sz="2400" dirty="0">
                <a:solidFill>
                  <a:schemeClr val="tx2"/>
                </a:solidFill>
              </a:rPr>
              <a:t>, 𝑀</a:t>
            </a:r>
            <a:r>
              <a:rPr lang="en-GB" sz="2400" baseline="-25000" dirty="0">
                <a:solidFill>
                  <a:schemeClr val="tx2"/>
                </a:solidFill>
              </a:rPr>
              <a:t>𝑑</a:t>
            </a:r>
            <a:r>
              <a:rPr lang="en-GB" sz="2400" dirty="0">
                <a:solidFill>
                  <a:schemeClr val="tx2"/>
                </a:solidFill>
              </a:rPr>
              <a:t>) = cos (𝑔({𝑓 (𝑘</a:t>
            </a:r>
            <a:r>
              <a:rPr lang="en-GB" sz="2400" baseline="-25000" dirty="0">
                <a:solidFill>
                  <a:schemeClr val="tx2"/>
                </a:solidFill>
              </a:rPr>
              <a:t>1</a:t>
            </a:r>
            <a:r>
              <a:rPr lang="en-GB" sz="2400" dirty="0">
                <a:solidFill>
                  <a:schemeClr val="tx2"/>
                </a:solidFill>
              </a:rPr>
              <a:t>), … , 𝑓 (𝑘</a:t>
            </a:r>
            <a:r>
              <a:rPr lang="en-GB" sz="2400" baseline="-25000" dirty="0">
                <a:solidFill>
                  <a:schemeClr val="tx2"/>
                </a:solidFill>
              </a:rPr>
              <a:t>𝑛</a:t>
            </a:r>
            <a:r>
              <a:rPr lang="en-GB" sz="2400" dirty="0">
                <a:solidFill>
                  <a:schemeClr val="tx2"/>
                </a:solidFill>
              </a:rPr>
              <a:t>)}), 𝑓 (𝑀</a:t>
            </a:r>
            <a:r>
              <a:rPr lang="en-GB" sz="2400" baseline="-25000" dirty="0">
                <a:solidFill>
                  <a:schemeClr val="tx2"/>
                </a:solidFill>
              </a:rPr>
              <a:t>𝑑</a:t>
            </a:r>
            <a:r>
              <a:rPr lang="en-GB" sz="2400" dirty="0">
                <a:solidFill>
                  <a:schemeClr val="tx2"/>
                </a:solidFill>
              </a:rPr>
              <a:t>))</a:t>
            </a:r>
            <a:endParaRPr lang="en-BE" sz="2400" dirty="0">
              <a:solidFill>
                <a:schemeClr val="tx2"/>
              </a:solidFill>
            </a:endParaRPr>
          </a:p>
        </p:txBody>
      </p:sp>
      <p:sp>
        <p:nvSpPr>
          <p:cNvPr id="6" name="Speech Bubble: Oval 5">
            <a:extLst>
              <a:ext uri="{FF2B5EF4-FFF2-40B4-BE49-F238E27FC236}">
                <a16:creationId xmlns:a16="http://schemas.microsoft.com/office/drawing/2014/main" id="{C3CC0D91-F1C1-5C48-7178-47F302320551}"/>
              </a:ext>
            </a:extLst>
          </p:cNvPr>
          <p:cNvSpPr/>
          <p:nvPr/>
        </p:nvSpPr>
        <p:spPr bwMode="auto">
          <a:xfrm>
            <a:off x="6931742" y="3817585"/>
            <a:ext cx="3664975" cy="675785"/>
          </a:xfrm>
          <a:prstGeom prst="wedgeEllipseCallout">
            <a:avLst>
              <a:gd name="adj1" fmla="val -91764"/>
              <a:gd name="adj2" fmla="val 89650"/>
            </a:avLst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rgbClr val="0070C0"/>
                </a:solidFill>
              </a:rPr>
              <a:t>Cos (.,.) , cosine similarity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5B7F335-2C26-2495-2751-EA7682C214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1742" y="5297133"/>
            <a:ext cx="3710500" cy="896451"/>
          </a:xfrm>
          <a:prstGeom prst="rect">
            <a:avLst/>
          </a:prstGeom>
        </p:spPr>
      </p:pic>
      <p:sp>
        <p:nvSpPr>
          <p:cNvPr id="9" name="Arrow: Down 8">
            <a:extLst>
              <a:ext uri="{FF2B5EF4-FFF2-40B4-BE49-F238E27FC236}">
                <a16:creationId xmlns:a16="http://schemas.microsoft.com/office/drawing/2014/main" id="{8048E060-77EF-2AE9-C417-21DCCCE05366}"/>
              </a:ext>
            </a:extLst>
          </p:cNvPr>
          <p:cNvSpPr/>
          <p:nvPr/>
        </p:nvSpPr>
        <p:spPr>
          <a:xfrm rot="18737194">
            <a:off x="6195386" y="4998035"/>
            <a:ext cx="413519" cy="100137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6C1944AC-D1B6-3FC1-944D-3F5555721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BE" b="1" dirty="0"/>
              <a:t>15/09/2026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5544BE0-844E-141D-CC14-0C291C9F2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CF0F1-4288-4E20-A5EE-551BC0760B6A}" type="slidenum">
              <a:rPr lang="en-BE" b="1" smtClean="0"/>
              <a:t>7</a:t>
            </a:fld>
            <a:endParaRPr lang="en-BE" b="1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B1D8D201-32DF-58D4-5FD1-5361EE71A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b="1" dirty="0"/>
              <a:t>NXDG 2026 -Ghent, Belgium</a:t>
            </a:r>
            <a:endParaRPr lang="en-BE" b="1" dirty="0"/>
          </a:p>
        </p:txBody>
      </p:sp>
    </p:spTree>
    <p:extLst>
      <p:ext uri="{BB962C8B-B14F-4D97-AF65-F5344CB8AC3E}">
        <p14:creationId xmlns:p14="http://schemas.microsoft.com/office/powerpoint/2010/main" val="834502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226D76-258F-2FE8-6148-FA7990100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EEECE-316C-5FE7-C37E-E8D68FAF6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060" y="395274"/>
            <a:ext cx="10515600" cy="372294"/>
          </a:xfrm>
        </p:spPr>
        <p:txBody>
          <a:bodyPr>
            <a:normAutofit fontScale="90000"/>
          </a:bodyPr>
          <a:lstStyle/>
          <a:p>
            <a:r>
              <a:rPr lang="en-GB" sz="3600" i="1" dirty="0">
                <a:solidFill>
                  <a:srgbClr val="002060"/>
                </a:solidFill>
                <a:latin typeface="+mn-lt"/>
              </a:rPr>
              <a:t>Introducing Semantic Keyword Quality</a:t>
            </a:r>
            <a:endParaRPr lang="en-BE" sz="3600" i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E4597B-D4D4-A134-798F-445D2F3B83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060" y="1504642"/>
            <a:ext cx="10515600" cy="2693732"/>
          </a:xfrm>
        </p:spPr>
        <p:txBody>
          <a:bodyPr>
            <a:noAutofit/>
          </a:bodyPr>
          <a:lstStyle/>
          <a:p>
            <a:pPr algn="just"/>
            <a:r>
              <a:rPr lang="en-GB" sz="2000" dirty="0"/>
              <a:t>Measures the </a:t>
            </a:r>
            <a:r>
              <a:rPr lang="en-GB" sz="2000" i="1" dirty="0"/>
              <a:t>average semantic alignment </a:t>
            </a:r>
            <a:r>
              <a:rPr lang="en-GB" sz="2000" dirty="0"/>
              <a:t>of individual keywords with a metadata field, determined by computing the similarity between each keyword and the metadata field, then taking the average.</a:t>
            </a:r>
          </a:p>
          <a:p>
            <a:pPr algn="just"/>
            <a:r>
              <a:rPr lang="en-GB" sz="2000" dirty="0"/>
              <a:t>Let 𝑑 ∈ 𝐷 denote a dataset, 𝐾</a:t>
            </a:r>
            <a:r>
              <a:rPr lang="en-GB" sz="2000" baseline="-25000" dirty="0"/>
              <a:t>𝑑</a:t>
            </a:r>
            <a:r>
              <a:rPr lang="en-GB" sz="2000" dirty="0"/>
              <a:t> = {𝑘</a:t>
            </a:r>
            <a:r>
              <a:rPr lang="en-GB" sz="2000" baseline="-25000" dirty="0"/>
              <a:t>1</a:t>
            </a:r>
            <a:r>
              <a:rPr lang="en-GB" sz="2000" dirty="0"/>
              <a:t>, … , 𝑘</a:t>
            </a:r>
            <a:r>
              <a:rPr lang="en-GB" sz="2000" baseline="-25000" dirty="0"/>
              <a:t>𝑛</a:t>
            </a:r>
            <a:r>
              <a:rPr lang="en-GB" sz="2000" dirty="0"/>
              <a:t>} the set of keywords assigned to 𝑑, and |𝐾</a:t>
            </a:r>
            <a:r>
              <a:rPr lang="en-GB" sz="2000" baseline="-25000" dirty="0"/>
              <a:t>𝑑</a:t>
            </a:r>
            <a:r>
              <a:rPr lang="en-GB" sz="2000" dirty="0"/>
              <a:t>| the number of keywords.</a:t>
            </a:r>
          </a:p>
          <a:p>
            <a:pPr algn="just"/>
            <a:r>
              <a:rPr lang="en-GB" sz="2000" dirty="0"/>
              <a:t>Each 𝑘 ∈ 𝐾</a:t>
            </a:r>
            <a:r>
              <a:rPr lang="en-GB" sz="2000" baseline="-25000" dirty="0"/>
              <a:t>𝑑</a:t>
            </a:r>
            <a:r>
              <a:rPr lang="en-GB" sz="2000" dirty="0"/>
              <a:t> represents an individual keyword, and 𝑀</a:t>
            </a:r>
            <a:r>
              <a:rPr lang="en-GB" sz="2000" baseline="-25000" dirty="0"/>
              <a:t>𝑑</a:t>
            </a:r>
            <a:r>
              <a:rPr lang="en-GB" sz="2000" dirty="0"/>
              <a:t> ∈ {𝑡</a:t>
            </a:r>
            <a:r>
              <a:rPr lang="en-GB" sz="2000" baseline="-25000" dirty="0"/>
              <a:t>𝑑</a:t>
            </a:r>
            <a:r>
              <a:rPr lang="en-GB" sz="2000" dirty="0"/>
              <a:t>, 𝑑𝑒𝑠𝑐</a:t>
            </a:r>
            <a:r>
              <a:rPr lang="en-GB" sz="2000" baseline="-25000" dirty="0"/>
              <a:t>𝑑</a:t>
            </a:r>
            <a:r>
              <a:rPr lang="en-GB" sz="2000" dirty="0"/>
              <a:t>} denotes the dataset metadata, where 𝑀</a:t>
            </a:r>
            <a:r>
              <a:rPr lang="en-GB" sz="2000" baseline="-25000" dirty="0"/>
              <a:t>𝑑</a:t>
            </a:r>
            <a:r>
              <a:rPr lang="en-GB" sz="2000" dirty="0"/>
              <a:t> is either the dataset title or description.</a:t>
            </a:r>
          </a:p>
          <a:p>
            <a:r>
              <a:rPr lang="en-GB" sz="2000" dirty="0"/>
              <a:t>The formal definition of average keyword relevance is as given: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1FD317-A65C-5DF4-986A-CDE54A65B9A4}"/>
              </a:ext>
            </a:extLst>
          </p:cNvPr>
          <p:cNvSpPr txBox="1"/>
          <p:nvPr/>
        </p:nvSpPr>
        <p:spPr>
          <a:xfrm>
            <a:off x="914060" y="842922"/>
            <a:ext cx="101272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i="1" dirty="0">
                <a:solidFill>
                  <a:srgbClr val="7030A0"/>
                </a:solidFill>
              </a:rPr>
              <a:t>Semantic Relevance: </a:t>
            </a:r>
            <a:r>
              <a:rPr lang="en-GB" sz="2800" b="1" i="1" dirty="0"/>
              <a:t>Average Keyword-Level Relevance</a:t>
            </a:r>
            <a:endParaRPr lang="en-BE" sz="2800" b="1" i="1" dirty="0">
              <a:solidFill>
                <a:srgbClr val="7030A0"/>
              </a:solidFill>
            </a:endParaRPr>
          </a:p>
        </p:txBody>
      </p:sp>
      <p:pic>
        <p:nvPicPr>
          <p:cNvPr id="12" name="Picture 11" descr="equation.png">
            <a:extLst>
              <a:ext uri="{FF2B5EF4-FFF2-40B4-BE49-F238E27FC236}">
                <a16:creationId xmlns:a16="http://schemas.microsoft.com/office/drawing/2014/main" id="{CB9B5508-C1D2-8E96-4701-7AFD15DA89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2864" y="4500009"/>
            <a:ext cx="6046839" cy="1253459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D90EA6D0-3B79-6338-A282-6473256BD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BE" b="1" dirty="0"/>
              <a:t>15/09/2026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748571E7-8DFF-B024-B181-0BD7A290A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CF0F1-4288-4E20-A5EE-551BC0760B6A}" type="slidenum">
              <a:rPr lang="en-BE" b="1" smtClean="0"/>
              <a:t>8</a:t>
            </a:fld>
            <a:endParaRPr lang="en-BE" b="1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73623483-0865-9498-2D50-A6408101E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b="1" dirty="0"/>
              <a:t>NXDG 2026 -Ghent, Belgium</a:t>
            </a:r>
            <a:endParaRPr lang="en-BE" b="1" dirty="0"/>
          </a:p>
        </p:txBody>
      </p:sp>
    </p:spTree>
    <p:extLst>
      <p:ext uri="{BB962C8B-B14F-4D97-AF65-F5344CB8AC3E}">
        <p14:creationId xmlns:p14="http://schemas.microsoft.com/office/powerpoint/2010/main" val="82971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329100-4ECD-351B-9224-DABF892AA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46AE7-4DCF-C27C-9DEB-FC4BA26E0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22" y="443784"/>
            <a:ext cx="10515600" cy="372294"/>
          </a:xfrm>
        </p:spPr>
        <p:txBody>
          <a:bodyPr>
            <a:normAutofit fontScale="90000"/>
          </a:bodyPr>
          <a:lstStyle/>
          <a:p>
            <a:r>
              <a:rPr lang="en-GB" sz="3600" i="1" dirty="0">
                <a:solidFill>
                  <a:srgbClr val="002060"/>
                </a:solidFill>
                <a:latin typeface="+mn-lt"/>
              </a:rPr>
              <a:t>Introducing Semantic Keyword Quality</a:t>
            </a:r>
            <a:endParaRPr lang="en-BE" sz="3600" i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81E664-0D83-0ED8-ACDB-9B67D40BE2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3839" y="1508886"/>
            <a:ext cx="10515600" cy="4511467"/>
          </a:xfrm>
        </p:spPr>
        <p:txBody>
          <a:bodyPr>
            <a:normAutofit/>
          </a:bodyPr>
          <a:lstStyle/>
          <a:p>
            <a:r>
              <a:rPr lang="en-GB" sz="2000" dirty="0"/>
              <a:t>Based on </a:t>
            </a:r>
            <a:r>
              <a:rPr lang="en-GB" sz="2000" i="1" dirty="0"/>
              <a:t>metadata completeness </a:t>
            </a:r>
            <a:r>
              <a:rPr lang="en-GB" sz="2000" dirty="0"/>
              <a:t>and measures </a:t>
            </a:r>
            <a:r>
              <a:rPr lang="en-GB" sz="2000" i="1" dirty="0"/>
              <a:t>degree to which keyword annotations semantically represent the concepts expressed in a metadata field</a:t>
            </a:r>
            <a:r>
              <a:rPr lang="en-GB" sz="2000" dirty="0"/>
              <a:t>.</a:t>
            </a:r>
          </a:p>
          <a:p>
            <a:r>
              <a:rPr lang="en-GB" sz="2000" dirty="0"/>
              <a:t>Let 𝑑 ∈ 𝐷 denote a dataset and 𝑀</a:t>
            </a:r>
            <a:r>
              <a:rPr lang="en-GB" sz="2000" baseline="-25000" dirty="0"/>
              <a:t>𝑑</a:t>
            </a:r>
            <a:r>
              <a:rPr lang="en-GB" sz="2000" dirty="0"/>
              <a:t> ∈ {𝑡</a:t>
            </a:r>
            <a:r>
              <a:rPr lang="en-GB" sz="2000" baseline="-25000" dirty="0"/>
              <a:t>𝑑</a:t>
            </a:r>
            <a:r>
              <a:rPr lang="en-GB" sz="2000" dirty="0"/>
              <a:t>, 𝑑𝑒𝑠𝑐</a:t>
            </a:r>
            <a:r>
              <a:rPr lang="en-GB" sz="2000" baseline="-25000" dirty="0"/>
              <a:t>𝑑</a:t>
            </a:r>
            <a:r>
              <a:rPr lang="en-GB" sz="2000" dirty="0"/>
              <a:t>} represent the associated descriptive metadata, where 𝑀</a:t>
            </a:r>
            <a:r>
              <a:rPr lang="en-GB" sz="2000" baseline="-25000" dirty="0"/>
              <a:t>𝑑</a:t>
            </a:r>
            <a:r>
              <a:rPr lang="en-GB" sz="2000" dirty="0"/>
              <a:t> is either the dataset title or description. </a:t>
            </a:r>
          </a:p>
          <a:p>
            <a:r>
              <a:rPr lang="en-GB" sz="2000" dirty="0"/>
              <a:t>Let 𝐶</a:t>
            </a:r>
            <a:r>
              <a:rPr lang="en-GB" sz="2000" baseline="-25000" dirty="0"/>
              <a:t>𝑑</a:t>
            </a:r>
            <a:r>
              <a:rPr lang="en-GB" sz="2000" dirty="0"/>
              <a:t> = {𝑐</a:t>
            </a:r>
            <a:r>
              <a:rPr lang="en-GB" sz="2000" baseline="-25000" dirty="0"/>
              <a:t>1</a:t>
            </a:r>
            <a:r>
              <a:rPr lang="en-GB" sz="2000" dirty="0"/>
              <a:t>, … , 𝑐</a:t>
            </a:r>
            <a:r>
              <a:rPr lang="en-GB" sz="2000" baseline="-25000" dirty="0"/>
              <a:t>𝑚</a:t>
            </a:r>
            <a:r>
              <a:rPr lang="en-GB" sz="2000" dirty="0"/>
              <a:t>} denote the set of concepts expressed in metadata field 𝑀</a:t>
            </a:r>
            <a:r>
              <a:rPr lang="en-GB" sz="2000" baseline="-25000" dirty="0"/>
              <a:t>𝑑</a:t>
            </a:r>
            <a:r>
              <a:rPr lang="en-GB" sz="2000" dirty="0"/>
              <a:t>, and 𝐾</a:t>
            </a:r>
            <a:r>
              <a:rPr lang="en-GB" sz="2000" baseline="-25000" dirty="0"/>
              <a:t>𝑑 </a:t>
            </a:r>
            <a:r>
              <a:rPr lang="en-GB" sz="2000" dirty="0"/>
              <a:t>= {𝑘</a:t>
            </a:r>
            <a:r>
              <a:rPr lang="en-GB" sz="2000" baseline="-25000" dirty="0"/>
              <a:t>1</a:t>
            </a:r>
            <a:r>
              <a:rPr lang="en-GB" sz="2000" dirty="0"/>
              <a:t>, … , 𝑘</a:t>
            </a:r>
            <a:r>
              <a:rPr lang="en-GB" sz="2000" baseline="-25000" dirty="0"/>
              <a:t>𝑛</a:t>
            </a:r>
            <a:r>
              <a:rPr lang="en-GB" sz="2000" dirty="0"/>
              <a:t>} denote the set of assigned keywords.</a:t>
            </a:r>
          </a:p>
          <a:p>
            <a:r>
              <a:rPr lang="en-GB" sz="2000" dirty="0"/>
              <a:t>Concepts are not directly observable at scale, hence operationalized using a set of metadata-derived keywords 𝐾′</a:t>
            </a:r>
            <a:r>
              <a:rPr lang="en-BE" sz="2000" baseline="-25000" dirty="0"/>
              <a:t>𝑀𝑑</a:t>
            </a:r>
            <a:r>
              <a:rPr lang="en-BE" sz="2000" dirty="0"/>
              <a:t> = {𝑘′</a:t>
            </a:r>
            <a:r>
              <a:rPr lang="en-BE" sz="2000" baseline="-25000" dirty="0"/>
              <a:t>1</a:t>
            </a:r>
            <a:r>
              <a:rPr lang="en-BE" sz="2000" dirty="0"/>
              <a:t>, … , 𝑘′</a:t>
            </a:r>
            <a:r>
              <a:rPr lang="en-BE" sz="2000" baseline="-25000" dirty="0"/>
              <a:t>𝑚</a:t>
            </a:r>
            <a:r>
              <a:rPr lang="en-GB" sz="2000" baseline="-25000" dirty="0"/>
              <a:t> </a:t>
            </a:r>
            <a:r>
              <a:rPr lang="en-GB" sz="2000" dirty="0"/>
              <a:t>} extracted from 𝑀</a:t>
            </a:r>
            <a:r>
              <a:rPr lang="en-GB" sz="2000" baseline="-25000" dirty="0"/>
              <a:t>𝑑</a:t>
            </a:r>
            <a:r>
              <a:rPr lang="en-GB" sz="2000" dirty="0"/>
              <a:t>, which serves as a proxy representation of 𝐶</a:t>
            </a:r>
            <a:r>
              <a:rPr lang="en-GB" sz="2000" baseline="-25000" dirty="0"/>
              <a:t>𝑑</a:t>
            </a:r>
            <a:r>
              <a:rPr lang="en-GB" sz="2000" dirty="0"/>
              <a:t>.</a:t>
            </a:r>
          </a:p>
          <a:p>
            <a:r>
              <a:rPr lang="en-GB" sz="2000" dirty="0"/>
              <a:t>Semantic Completeness therefore defined as: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FD9C39-B277-D76C-9B9D-9EBA5E121288}"/>
              </a:ext>
            </a:extLst>
          </p:cNvPr>
          <p:cNvSpPr txBox="1"/>
          <p:nvPr/>
        </p:nvSpPr>
        <p:spPr>
          <a:xfrm>
            <a:off x="936522" y="816078"/>
            <a:ext cx="101272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i="1" dirty="0">
                <a:solidFill>
                  <a:srgbClr val="7030A0"/>
                </a:solidFill>
              </a:rPr>
              <a:t>Semantic Completeness</a:t>
            </a:r>
            <a:endParaRPr lang="en-BE" sz="2800" b="1" dirty="0">
              <a:solidFill>
                <a:srgbClr val="7030A0"/>
              </a:solidFill>
            </a:endParaRPr>
          </a:p>
        </p:txBody>
      </p:sp>
      <p:pic>
        <p:nvPicPr>
          <p:cNvPr id="5" name="Picture 4" descr="semantic_completeness_equation.png">
            <a:extLst>
              <a:ext uri="{FF2B5EF4-FFF2-40B4-BE49-F238E27FC236}">
                <a16:creationId xmlns:a16="http://schemas.microsoft.com/office/drawing/2014/main" id="{DAAB5F6A-44E6-A530-EEA7-5E3407D184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7053" y="4470051"/>
            <a:ext cx="7386484" cy="1758125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FC73633-B4D8-40AD-2749-60265FAB6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BE" b="1" dirty="0"/>
              <a:t>15/09/2026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63AA19-96D2-DC56-4932-05094FDC1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CF0F1-4288-4E20-A5EE-551BC0760B6A}" type="slidenum">
              <a:rPr lang="en-BE" b="1" smtClean="0"/>
              <a:t>9</a:t>
            </a:fld>
            <a:endParaRPr lang="en-BE" b="1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697AC2-D59D-208D-E09A-34ADB965C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b="1" dirty="0"/>
              <a:t>NXDG 2026 -Ghent, Belgium</a:t>
            </a:r>
            <a:endParaRPr lang="en-BE" b="1" dirty="0"/>
          </a:p>
        </p:txBody>
      </p:sp>
    </p:spTree>
    <p:extLst>
      <p:ext uri="{BB962C8B-B14F-4D97-AF65-F5344CB8AC3E}">
        <p14:creationId xmlns:p14="http://schemas.microsoft.com/office/powerpoint/2010/main" val="962207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7CB184-00C7-86A6-CB6B-3A2039A34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4C1B5-E30D-649C-A226-CC6CFCCDA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22" y="443784"/>
            <a:ext cx="10515600" cy="372294"/>
          </a:xfrm>
        </p:spPr>
        <p:txBody>
          <a:bodyPr>
            <a:normAutofit fontScale="90000"/>
          </a:bodyPr>
          <a:lstStyle/>
          <a:p>
            <a:r>
              <a:rPr lang="en-GB" sz="3600" i="1" dirty="0">
                <a:solidFill>
                  <a:srgbClr val="002060"/>
                </a:solidFill>
                <a:latin typeface="+mn-lt"/>
              </a:rPr>
              <a:t>Analysing Semantic Keyword Quality</a:t>
            </a:r>
            <a:endParaRPr lang="en-BE" sz="3600" i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6D4838-A0A8-24D6-7826-34CAEBDAB9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3839" y="1508888"/>
            <a:ext cx="10515600" cy="959010"/>
          </a:xfrm>
        </p:spPr>
        <p:txBody>
          <a:bodyPr>
            <a:noAutofit/>
          </a:bodyPr>
          <a:lstStyle/>
          <a:p>
            <a:pPr algn="just"/>
            <a:r>
              <a:rPr lang="en-GB" sz="2000" b="1" dirty="0"/>
              <a:t> Data Source: </a:t>
            </a:r>
            <a:r>
              <a:rPr lang="en-GB" sz="2000" dirty="0"/>
              <a:t>European Open Data Portal is used as a case study. 23,777 datasets from the </a:t>
            </a:r>
            <a:r>
              <a:rPr lang="en-GB" sz="2000" i="1" dirty="0"/>
              <a:t>data.gov.uk </a:t>
            </a:r>
            <a:r>
              <a:rPr lang="en-GB" sz="2000" dirty="0"/>
              <a:t>collection from the metadata dump</a:t>
            </a:r>
            <a:r>
              <a:rPr lang="en-GB" sz="2000" baseline="30000" dirty="0"/>
              <a:t>4</a:t>
            </a:r>
            <a:r>
              <a:rPr lang="en-GB" sz="2000" dirty="0"/>
              <a:t>. Randomly sampled 10,000 datasets (dataset ID, title, description, and keywords).</a:t>
            </a:r>
            <a:endParaRPr lang="en-GB" sz="20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CD5FBE-699F-7AEB-C639-B814658FCB16}"/>
              </a:ext>
            </a:extLst>
          </p:cNvPr>
          <p:cNvSpPr txBox="1"/>
          <p:nvPr/>
        </p:nvSpPr>
        <p:spPr>
          <a:xfrm>
            <a:off x="936522" y="888395"/>
            <a:ext cx="101272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i="1" dirty="0">
                <a:solidFill>
                  <a:srgbClr val="7030A0"/>
                </a:solidFill>
              </a:rPr>
              <a:t>Experimental Set up</a:t>
            </a:r>
            <a:endParaRPr lang="en-BE" sz="2800" b="1" dirty="0">
              <a:solidFill>
                <a:srgbClr val="7030A0"/>
              </a:solidFill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FA71007-4A8C-1DAE-DF88-B3822AD92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BE" b="1" dirty="0"/>
              <a:t>15/09/2026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46C69B-E860-D589-8FC5-746CE572A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CF0F1-4288-4E20-A5EE-551BC0760B6A}" type="slidenum">
              <a:rPr lang="en-BE" b="1" smtClean="0"/>
              <a:t>10</a:t>
            </a:fld>
            <a:endParaRPr lang="en-BE" b="1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450ACC-ECDB-736B-CF12-83FBB85B3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b="1" dirty="0"/>
              <a:t>NXDG 2026 -Ghent, Belgium</a:t>
            </a:r>
            <a:endParaRPr lang="en-BE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0BF66F-40AC-FADF-B7BF-5240434A6693}"/>
              </a:ext>
            </a:extLst>
          </p:cNvPr>
          <p:cNvSpPr txBox="1"/>
          <p:nvPr/>
        </p:nvSpPr>
        <p:spPr>
          <a:xfrm>
            <a:off x="374855" y="5833130"/>
            <a:ext cx="11442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4. </a:t>
            </a:r>
            <a:r>
              <a:rPr lang="en-GB" sz="1400" i="1" dirty="0">
                <a:solidFill>
                  <a:srgbClr val="C00000"/>
                </a:solidFill>
              </a:rPr>
              <a:t>https://data.europa.eu/en/download-datasets</a:t>
            </a:r>
            <a:r>
              <a:rPr lang="en-GB" dirty="0"/>
              <a:t>, </a:t>
            </a:r>
            <a:r>
              <a:rPr lang="en-GB" sz="1400" dirty="0"/>
              <a:t>accessed on 16 April 2026.</a:t>
            </a:r>
            <a:endParaRPr lang="en-BE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CB1A96-2814-ADDD-1815-D8EA0F794F8A}"/>
              </a:ext>
            </a:extLst>
          </p:cNvPr>
          <p:cNvSpPr txBox="1"/>
          <p:nvPr/>
        </p:nvSpPr>
        <p:spPr>
          <a:xfrm>
            <a:off x="1093839" y="2634923"/>
            <a:ext cx="10589342" cy="14516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800"/>
            </a:pPr>
            <a:r>
              <a:rPr lang="en-GB" sz="2000" b="1" dirty="0"/>
              <a:t>Keywords Baseline: </a:t>
            </a:r>
            <a:r>
              <a:rPr lang="en-GB" sz="2000" dirty="0"/>
              <a:t>metadata concepts approximated using KeyBERT; robustness checked using YAKE.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1" dirty="0"/>
              <a:t>Sensitivity Analysis: </a:t>
            </a:r>
            <a:r>
              <a:rPr lang="en-GB" sz="2000" dirty="0"/>
              <a:t>Sensitivity: completeness thresholds τ ∈ {0.6, 0.7, 0.8}; alternative embedding model all-mpnet-base-v2.</a:t>
            </a:r>
          </a:p>
        </p:txBody>
      </p:sp>
    </p:spTree>
    <p:extLst>
      <p:ext uri="{BB962C8B-B14F-4D97-AF65-F5344CB8AC3E}">
        <p14:creationId xmlns:p14="http://schemas.microsoft.com/office/powerpoint/2010/main" val="1476239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allAtOnce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8462F-C944-1175-0CB6-D8B675837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9C1AF-6D20-8E41-ECAB-BF48C5165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22" y="443784"/>
            <a:ext cx="10515600" cy="372294"/>
          </a:xfrm>
        </p:spPr>
        <p:txBody>
          <a:bodyPr>
            <a:normAutofit fontScale="90000"/>
          </a:bodyPr>
          <a:lstStyle/>
          <a:p>
            <a:r>
              <a:rPr lang="en-GB" sz="3600" i="1" dirty="0">
                <a:solidFill>
                  <a:srgbClr val="002060"/>
                </a:solidFill>
                <a:latin typeface="+mn-lt"/>
              </a:rPr>
              <a:t>Analysing Semantic Keyword Quality</a:t>
            </a:r>
            <a:endParaRPr lang="en-BE" sz="3600" i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D1D39D-648F-2271-2ACC-0FEBA4D2B015}"/>
              </a:ext>
            </a:extLst>
          </p:cNvPr>
          <p:cNvSpPr txBox="1"/>
          <p:nvPr/>
        </p:nvSpPr>
        <p:spPr>
          <a:xfrm>
            <a:off x="936522" y="962427"/>
            <a:ext cx="101272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i="1" dirty="0">
                <a:solidFill>
                  <a:srgbClr val="7030A0"/>
                </a:solidFill>
              </a:rPr>
              <a:t>Experimental Results: </a:t>
            </a:r>
            <a:r>
              <a:rPr lang="en-GB" sz="2800" b="1" i="1" dirty="0"/>
              <a:t>Semantic Relevance</a:t>
            </a:r>
            <a:endParaRPr lang="en-BE" sz="28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68A143-4FAB-217E-07C6-766937CF9ACC}"/>
              </a:ext>
            </a:extLst>
          </p:cNvPr>
          <p:cNvSpPr txBox="1"/>
          <p:nvPr/>
        </p:nvSpPr>
        <p:spPr>
          <a:xfrm>
            <a:off x="3690901" y="1600200"/>
            <a:ext cx="4807149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rPr sz="2000" dirty="0">
                <a:solidFill>
                  <a:srgbClr val="002060"/>
                </a:solidFill>
              </a:rPr>
              <a:t>Summary statistics of semantic relevance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E1EC35C-ACDC-9580-B4B0-B54344143437}"/>
              </a:ext>
            </a:extLst>
          </p:cNvPr>
          <p:cNvGraphicFramePr>
            <a:graphicFrameLocks noGrp="1"/>
          </p:cNvGraphicFramePr>
          <p:nvPr/>
        </p:nvGraphicFramePr>
        <p:xfrm>
          <a:off x="640080" y="2194560"/>
          <a:ext cx="10908792" cy="1837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591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12648">
                <a:tc>
                  <a:txBody>
                    <a:bodyPr/>
                    <a:lstStyle/>
                    <a:p>
                      <a:pPr algn="ctr">
                        <a:defRPr sz="1700" b="1"/>
                      </a:pPr>
                      <a:r>
                        <a:rPr dirty="0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700" b="1"/>
                      </a:pPr>
                      <a:r>
                        <a:rPr dirty="0"/>
                        <a:t>Agg Title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700" b="1"/>
                      </a:pPr>
                      <a:r>
                        <a:rPr dirty="0"/>
                        <a:t>Agg 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700" b="1"/>
                      </a:pPr>
                      <a:r>
                        <a:rPr dirty="0"/>
                        <a:t>Avg Title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700" b="1"/>
                      </a:pPr>
                      <a:r>
                        <a:rPr dirty="0"/>
                        <a:t>Avg 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648">
                <a:tc>
                  <a:txBody>
                    <a:bodyPr/>
                    <a:lstStyle/>
                    <a:p>
                      <a:pPr algn="ctr">
                        <a:defRPr sz="2000" b="1"/>
                      </a:pPr>
                      <a:r>
                        <a:rPr dirty="0"/>
                        <a:t>Mean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2000"/>
                      </a:pPr>
                      <a:r>
                        <a:rPr dirty="0"/>
                        <a:t>0.44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2000"/>
                      </a:pPr>
                      <a:r>
                        <a:rPr dirty="0"/>
                        <a:t>0.41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2000"/>
                      </a:pPr>
                      <a:r>
                        <a:rPr dirty="0"/>
                        <a:t>0.30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2000"/>
                      </a:pPr>
                      <a:r>
                        <a:rPr dirty="0"/>
                        <a:t>0.28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648">
                <a:tc>
                  <a:txBody>
                    <a:bodyPr/>
                    <a:lstStyle/>
                    <a:p>
                      <a:pPr algn="ctr">
                        <a:defRPr sz="2000" b="1"/>
                      </a:pPr>
                      <a:r>
                        <a:rPr dirty="0"/>
                        <a:t>Median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2000"/>
                      </a:pPr>
                      <a:r>
                        <a:rPr dirty="0"/>
                        <a:t>0.44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2000"/>
                      </a:pPr>
                      <a:r>
                        <a:rPr dirty="0"/>
                        <a:t>0.42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2000"/>
                      </a:pPr>
                      <a:r>
                        <a:rPr dirty="0"/>
                        <a:t>0.28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2000"/>
                      </a:pPr>
                      <a:r>
                        <a:rPr dirty="0"/>
                        <a:t>0.27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A8B30027-B23E-067B-BE6E-5C707B43D9EC}"/>
              </a:ext>
            </a:extLst>
          </p:cNvPr>
          <p:cNvSpPr txBox="1"/>
          <p:nvPr/>
        </p:nvSpPr>
        <p:spPr>
          <a:xfrm>
            <a:off x="2047763" y="4389120"/>
            <a:ext cx="7974554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rPr sz="2000" dirty="0"/>
              <a:t>Agg = Aggregated keyword relevance; Avg = Average keyword relevance.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6E2676-A284-1919-EF9A-EFC1203ED14B}"/>
              </a:ext>
            </a:extLst>
          </p:cNvPr>
          <p:cNvSpPr txBox="1"/>
          <p:nvPr/>
        </p:nvSpPr>
        <p:spPr>
          <a:xfrm>
            <a:off x="835742" y="5132439"/>
            <a:ext cx="9910916" cy="11439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800"/>
            </a:pPr>
            <a:r>
              <a:rPr lang="en-GB" sz="2000" dirty="0"/>
              <a:t>Keyword sets are generally semantically related to the metadata, but alignment is low-to-moderate.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800"/>
            </a:pPr>
            <a:r>
              <a:rPr lang="en-GB" sz="2000" dirty="0"/>
              <a:t>Individual keywords are less aligned than keyword sets collectively.</a:t>
            </a:r>
            <a:endParaRPr lang="en-BE" sz="2000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4904B3F3-8007-27B3-D260-463DE12A3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BE" b="1" dirty="0"/>
              <a:t>15/09/2026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8D6052C4-FDA5-4BD3-9ACB-93B3F9570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CF0F1-4288-4E20-A5EE-551BC0760B6A}" type="slidenum">
              <a:rPr lang="en-BE" b="1" smtClean="0"/>
              <a:t>11</a:t>
            </a:fld>
            <a:endParaRPr lang="en-BE" b="1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7821E4B7-2C57-3F88-F542-5A4CC91AF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b="1" dirty="0"/>
              <a:t>NXDG 2026 -Ghent, Belgium</a:t>
            </a:r>
            <a:endParaRPr lang="en-BE" b="1" dirty="0"/>
          </a:p>
        </p:txBody>
      </p:sp>
    </p:spTree>
    <p:extLst>
      <p:ext uri="{BB962C8B-B14F-4D97-AF65-F5344CB8AC3E}">
        <p14:creationId xmlns:p14="http://schemas.microsoft.com/office/powerpoint/2010/main" val="933475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2B1FA-025B-AB4F-F6BE-A1C260439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41EF4-A6A8-D8EF-A73B-D4B2452CDE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22" y="443784"/>
            <a:ext cx="10515600" cy="372294"/>
          </a:xfrm>
        </p:spPr>
        <p:txBody>
          <a:bodyPr>
            <a:normAutofit fontScale="90000"/>
          </a:bodyPr>
          <a:lstStyle/>
          <a:p>
            <a:r>
              <a:rPr lang="en-GB" sz="3600" i="1" dirty="0">
                <a:solidFill>
                  <a:srgbClr val="002060"/>
                </a:solidFill>
                <a:latin typeface="+mn-lt"/>
              </a:rPr>
              <a:t>Analysing Semantic Keyword Quality</a:t>
            </a:r>
            <a:endParaRPr lang="en-BE" sz="3600" i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379C3D-3A54-81C4-CF46-FD5F471865F6}"/>
              </a:ext>
            </a:extLst>
          </p:cNvPr>
          <p:cNvSpPr txBox="1"/>
          <p:nvPr/>
        </p:nvSpPr>
        <p:spPr>
          <a:xfrm>
            <a:off x="936521" y="877944"/>
            <a:ext cx="101272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i="1" dirty="0">
                <a:solidFill>
                  <a:srgbClr val="7030A0"/>
                </a:solidFill>
              </a:rPr>
              <a:t>Experimental Results: </a:t>
            </a:r>
            <a:r>
              <a:rPr lang="en-GB" sz="2800" b="1" i="1" dirty="0"/>
              <a:t>Semantic Relevance</a:t>
            </a:r>
            <a:endParaRPr lang="en-BE" sz="28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FB1532-31A6-0355-E694-EEF9B27A85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496" y="1693552"/>
            <a:ext cx="10385008" cy="367390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62BF704-9D0E-97C4-BC2D-306B5643F7CB}"/>
              </a:ext>
            </a:extLst>
          </p:cNvPr>
          <p:cNvSpPr txBox="1"/>
          <p:nvPr/>
        </p:nvSpPr>
        <p:spPr>
          <a:xfrm>
            <a:off x="1585450" y="1423108"/>
            <a:ext cx="1051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accent1"/>
                </a:solidFill>
              </a:rPr>
              <a:t>Relationship between the number of assigned keywords and aggregated semantic relevance</a:t>
            </a:r>
            <a:endParaRPr lang="en-BE" dirty="0">
              <a:solidFill>
                <a:schemeClr val="accent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835E3E-DDC0-56A8-5A49-293BDA20D36C}"/>
              </a:ext>
            </a:extLst>
          </p:cNvPr>
          <p:cNvSpPr txBox="1"/>
          <p:nvPr/>
        </p:nvSpPr>
        <p:spPr>
          <a:xfrm>
            <a:off x="1256070" y="5736785"/>
            <a:ext cx="9488129" cy="412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lang="en-GB" dirty="0"/>
              <a:t>More keywords do not necessarily mean better aggregated semantic relevance.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C7090B63-D097-B3D7-36E5-7562EE66E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BE" b="1" dirty="0"/>
              <a:t>15/09/2026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1C5FC9D-3AD4-D03B-DE70-D15EA3121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CF0F1-4288-4E20-A5EE-551BC0760B6A}" type="slidenum">
              <a:rPr lang="en-BE" b="1" smtClean="0"/>
              <a:t>12</a:t>
            </a:fld>
            <a:endParaRPr lang="en-BE" b="1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F8E2480F-B094-F3F7-8A01-799C139E1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b="1" dirty="0"/>
              <a:t>NXDG 2026 -Ghent, Belgium</a:t>
            </a:r>
            <a:endParaRPr lang="en-BE" b="1" dirty="0"/>
          </a:p>
        </p:txBody>
      </p:sp>
    </p:spTree>
    <p:extLst>
      <p:ext uri="{BB962C8B-B14F-4D97-AF65-F5344CB8AC3E}">
        <p14:creationId xmlns:p14="http://schemas.microsoft.com/office/powerpoint/2010/main" val="2999270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7481FD-2049-19A7-3896-E97087E90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9B8A1-5AE0-B1E1-6A08-76CC120596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22" y="443784"/>
            <a:ext cx="10515600" cy="372294"/>
          </a:xfrm>
        </p:spPr>
        <p:txBody>
          <a:bodyPr>
            <a:normAutofit fontScale="90000"/>
          </a:bodyPr>
          <a:lstStyle/>
          <a:p>
            <a:r>
              <a:rPr lang="en-GB" sz="3600" i="1" dirty="0">
                <a:solidFill>
                  <a:srgbClr val="002060"/>
                </a:solidFill>
                <a:latin typeface="+mn-lt"/>
              </a:rPr>
              <a:t>Analysing Semantic Keyword Quality</a:t>
            </a:r>
            <a:endParaRPr lang="en-BE" sz="3600" i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374987-7DD0-42C1-801E-53E8BF8827E1}"/>
              </a:ext>
            </a:extLst>
          </p:cNvPr>
          <p:cNvSpPr txBox="1"/>
          <p:nvPr/>
        </p:nvSpPr>
        <p:spPr>
          <a:xfrm>
            <a:off x="936522" y="820410"/>
            <a:ext cx="101272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i="1" dirty="0">
                <a:solidFill>
                  <a:srgbClr val="7030A0"/>
                </a:solidFill>
              </a:rPr>
              <a:t>Experimental Results: </a:t>
            </a:r>
            <a:r>
              <a:rPr lang="en-GB" sz="2800" b="1" i="1" dirty="0"/>
              <a:t>Semantic Completeness</a:t>
            </a:r>
            <a:endParaRPr lang="en-BE" sz="28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71C799-F683-5D59-485E-54C22D708EDE}"/>
              </a:ext>
            </a:extLst>
          </p:cNvPr>
          <p:cNvSpPr txBox="1"/>
          <p:nvPr/>
        </p:nvSpPr>
        <p:spPr>
          <a:xfrm>
            <a:off x="3510126" y="1504101"/>
            <a:ext cx="5368393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rPr sz="2000" dirty="0">
                <a:solidFill>
                  <a:srgbClr val="002060"/>
                </a:solidFill>
              </a:rPr>
              <a:t>Summary statistics of semantic completeness</a:t>
            </a:r>
            <a:r>
              <a:rPr dirty="0">
                <a:solidFill>
                  <a:srgbClr val="002060"/>
                </a:solidFill>
              </a:rPr>
              <a:t>.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B11266FE-EF1B-E388-E49F-6D214F4B38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5636927"/>
              </p:ext>
            </p:extLst>
          </p:nvPr>
        </p:nvGraphicFramePr>
        <p:xfrm>
          <a:off x="2020086" y="1984220"/>
          <a:ext cx="8348472" cy="1837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535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2648">
                <a:tc>
                  <a:txBody>
                    <a:bodyPr/>
                    <a:lstStyle/>
                    <a:p>
                      <a:pPr algn="ctr">
                        <a:defRPr sz="1800" b="1"/>
                      </a:pPr>
                      <a:r>
                        <a:rPr dirty="0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800" b="1"/>
                      </a:pPr>
                      <a:r>
                        <a:rPr dirty="0"/>
                        <a:t>Title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800" b="1"/>
                      </a:pPr>
                      <a:r>
                        <a:rPr dirty="0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648">
                <a:tc>
                  <a:txBody>
                    <a:bodyPr/>
                    <a:lstStyle/>
                    <a:p>
                      <a:pPr algn="ctr">
                        <a:defRPr sz="2000" b="1"/>
                      </a:pPr>
                      <a:r>
                        <a:rPr dirty="0"/>
                        <a:t>Mean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2000"/>
                      </a:pPr>
                      <a:r>
                        <a:rPr dirty="0"/>
                        <a:t>0.325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2000"/>
                      </a:pPr>
                      <a:r>
                        <a:rPr dirty="0"/>
                        <a:t>0.278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648">
                <a:tc>
                  <a:txBody>
                    <a:bodyPr/>
                    <a:lstStyle/>
                    <a:p>
                      <a:pPr algn="ctr">
                        <a:defRPr sz="2000" b="1"/>
                      </a:pPr>
                      <a:r>
                        <a:rPr dirty="0"/>
                        <a:t>Median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2000"/>
                      </a:pPr>
                      <a:r>
                        <a:rPr dirty="0"/>
                        <a:t>0.200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2000"/>
                      </a:pPr>
                      <a:r>
                        <a:rPr dirty="0"/>
                        <a:t>0.200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18AF543D-E6F7-9EDD-3979-3DED178E3568}"/>
              </a:ext>
            </a:extLst>
          </p:cNvPr>
          <p:cNvSpPr txBox="1"/>
          <p:nvPr/>
        </p:nvSpPr>
        <p:spPr>
          <a:xfrm>
            <a:off x="1170039" y="4316361"/>
            <a:ext cx="9792929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Keyword annotations cover only a limited portion of the concepts expressed in descriptive metadata.</a:t>
            </a:r>
          </a:p>
          <a:p>
            <a:endParaRPr lang="en-BE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95A63F5E-1BCC-59EC-FF47-23EDE7CD3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BE" b="1" dirty="0"/>
              <a:t>15/09/2026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1513594A-45E3-35EC-1352-71E912E8D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CF0F1-4288-4E20-A5EE-551BC0760B6A}" type="slidenum">
              <a:rPr lang="en-BE" b="1" smtClean="0"/>
              <a:t>13</a:t>
            </a:fld>
            <a:endParaRPr lang="en-BE" b="1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B478931C-3D53-FBE2-6926-BA216E7B3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b="1" dirty="0"/>
              <a:t>NXDG 2026 -Ghent, Belgium</a:t>
            </a:r>
            <a:endParaRPr lang="en-BE" b="1" dirty="0"/>
          </a:p>
        </p:txBody>
      </p:sp>
    </p:spTree>
    <p:extLst>
      <p:ext uri="{BB962C8B-B14F-4D97-AF65-F5344CB8AC3E}">
        <p14:creationId xmlns:p14="http://schemas.microsoft.com/office/powerpoint/2010/main" val="36679293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4BA13A-7671-CD04-0B8E-52D78420B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77F1A-5223-BC5F-FDE7-3776B6E10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22" y="443784"/>
            <a:ext cx="10515600" cy="372294"/>
          </a:xfrm>
        </p:spPr>
        <p:txBody>
          <a:bodyPr>
            <a:normAutofit fontScale="90000"/>
          </a:bodyPr>
          <a:lstStyle/>
          <a:p>
            <a:r>
              <a:rPr lang="en-GB" sz="3600" i="1" dirty="0">
                <a:solidFill>
                  <a:srgbClr val="002060"/>
                </a:solidFill>
                <a:latin typeface="+mn-lt"/>
              </a:rPr>
              <a:t>Analysing Semantic Keyword Quality</a:t>
            </a:r>
            <a:endParaRPr lang="en-BE" sz="3600" i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46C106-7E86-CE87-830F-6687D893B109}"/>
              </a:ext>
            </a:extLst>
          </p:cNvPr>
          <p:cNvSpPr txBox="1"/>
          <p:nvPr/>
        </p:nvSpPr>
        <p:spPr>
          <a:xfrm>
            <a:off x="936522" y="962427"/>
            <a:ext cx="101272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i="1" dirty="0">
                <a:solidFill>
                  <a:srgbClr val="7030A0"/>
                </a:solidFill>
              </a:rPr>
              <a:t>Experimental Results: </a:t>
            </a:r>
            <a:r>
              <a:rPr lang="en-GB" sz="2800" b="1" i="1" dirty="0"/>
              <a:t>Semantic Completeness</a:t>
            </a:r>
            <a:endParaRPr lang="en-BE" sz="28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8154FE-1547-B3E9-AD7B-2B0F4B242F9C}"/>
              </a:ext>
            </a:extLst>
          </p:cNvPr>
          <p:cNvSpPr txBox="1"/>
          <p:nvPr/>
        </p:nvSpPr>
        <p:spPr>
          <a:xfrm>
            <a:off x="1103670" y="1508886"/>
            <a:ext cx="1051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accent1"/>
                </a:solidFill>
              </a:rPr>
              <a:t>Relationship between the number of assigned keywords and semantic Completeness</a:t>
            </a:r>
            <a:endParaRPr lang="en-BE" dirty="0">
              <a:solidFill>
                <a:schemeClr val="accent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9C35B0D-A318-13DB-235C-3CF719C9E9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670" y="2024567"/>
            <a:ext cx="9929352" cy="357349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E7142C4-7673-08D0-90F7-7FC0834C925A}"/>
              </a:ext>
            </a:extLst>
          </p:cNvPr>
          <p:cNvSpPr txBox="1"/>
          <p:nvPr/>
        </p:nvSpPr>
        <p:spPr>
          <a:xfrm>
            <a:off x="1248697" y="5830529"/>
            <a:ext cx="9488129" cy="412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lang="en-GB" dirty="0"/>
              <a:t>More keywords do not necessarily mean better semantic completeness.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5E6CAC31-E9E5-04DB-592C-6D7620B95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BE" b="1" dirty="0"/>
              <a:t>15/09/2026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25E7F8-23FB-2C4C-0F95-7BC39B498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CF0F1-4288-4E20-A5EE-551BC0760B6A}" type="slidenum">
              <a:rPr lang="en-BE" b="1" smtClean="0"/>
              <a:t>14</a:t>
            </a:fld>
            <a:endParaRPr lang="en-BE" b="1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18DF2DED-0F70-FE82-6D5D-8E0964D85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b="1" dirty="0"/>
              <a:t>NXDG 2026 -Ghent, Belgium</a:t>
            </a:r>
            <a:endParaRPr lang="en-BE" b="1" dirty="0"/>
          </a:p>
        </p:txBody>
      </p:sp>
    </p:spTree>
    <p:extLst>
      <p:ext uri="{BB962C8B-B14F-4D97-AF65-F5344CB8AC3E}">
        <p14:creationId xmlns:p14="http://schemas.microsoft.com/office/powerpoint/2010/main" val="751422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08E7A-3755-ED5B-36B4-E03D1DC13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9555F-DD75-146E-1828-00634FA15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22" y="443784"/>
            <a:ext cx="10515600" cy="372294"/>
          </a:xfrm>
        </p:spPr>
        <p:txBody>
          <a:bodyPr>
            <a:normAutofit fontScale="90000"/>
          </a:bodyPr>
          <a:lstStyle/>
          <a:p>
            <a:r>
              <a:rPr lang="en-GB" sz="3600" i="1" dirty="0">
                <a:solidFill>
                  <a:srgbClr val="002060"/>
                </a:solidFill>
                <a:latin typeface="+mn-lt"/>
              </a:rPr>
              <a:t>Analysing Semantic Keyword Quality</a:t>
            </a:r>
            <a:endParaRPr lang="en-BE" sz="3600" i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B1E8EF-4037-01F6-3DFC-56790CD6208C}"/>
              </a:ext>
            </a:extLst>
          </p:cNvPr>
          <p:cNvSpPr txBox="1"/>
          <p:nvPr/>
        </p:nvSpPr>
        <p:spPr>
          <a:xfrm>
            <a:off x="936522" y="962427"/>
            <a:ext cx="1012722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i="1" dirty="0">
                <a:solidFill>
                  <a:srgbClr val="7030A0"/>
                </a:solidFill>
              </a:rPr>
              <a:t>Experimental Results: </a:t>
            </a:r>
            <a:r>
              <a:rPr lang="en-GB" sz="2800" b="1" i="1" dirty="0"/>
              <a:t>Semantic Completeness versus Semantic Completeness</a:t>
            </a:r>
            <a:endParaRPr lang="en-BE" sz="28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06BF45-2A99-E6D2-AAD5-39FEAE3202FB}"/>
              </a:ext>
            </a:extLst>
          </p:cNvPr>
          <p:cNvSpPr txBox="1"/>
          <p:nvPr/>
        </p:nvSpPr>
        <p:spPr>
          <a:xfrm>
            <a:off x="936522" y="2212258"/>
            <a:ext cx="9488129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Semantic relevance exhibits </a:t>
            </a:r>
            <a:r>
              <a:rPr lang="en-GB" sz="2000" i="1" dirty="0"/>
              <a:t>low alignment </a:t>
            </a:r>
            <a:r>
              <a:rPr lang="en-GB" sz="2000" dirty="0"/>
              <a:t>(mean aggregated relevance of 0.44 and 0.41 for titles and descriptions, respectively), semantic completeness remains substantially lower (title mean = 0.33; description mean = 0.28).</a:t>
            </a:r>
          </a:p>
          <a:p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b="1" dirty="0"/>
              <a:t>Data governance perspective: </a:t>
            </a:r>
            <a:r>
              <a:rPr lang="en-GB" sz="2000" dirty="0"/>
              <a:t>these findings highlight limitations in current metadata curation practices within open data portals hence the need to consider both aspects of semantic keyword quality. </a:t>
            </a:r>
          </a:p>
          <a:p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Data annotation guidelines should therefore consider not only: “Are keywords present?”, but also: “Do keywords accurately and comprehensively represent the semantic content of the metadata?”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488B01-5740-46CA-5319-955F7204F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BE" b="1" dirty="0"/>
              <a:t>15/09/2026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174B8E3-8E5D-24C7-1114-F188113FA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CF0F1-4288-4E20-A5EE-551BC0760B6A}" type="slidenum">
              <a:rPr lang="en-BE" b="1" smtClean="0"/>
              <a:t>15</a:t>
            </a:fld>
            <a:endParaRPr lang="en-BE" b="1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7CB9A856-935D-71A7-F742-1EAAFFD98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b="1" dirty="0"/>
              <a:t>NXDG 2026 -Ghent, Belgium</a:t>
            </a:r>
            <a:endParaRPr lang="en-BE" b="1" dirty="0"/>
          </a:p>
        </p:txBody>
      </p:sp>
    </p:spTree>
    <p:extLst>
      <p:ext uri="{BB962C8B-B14F-4D97-AF65-F5344CB8AC3E}">
        <p14:creationId xmlns:p14="http://schemas.microsoft.com/office/powerpoint/2010/main" val="3166506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F96ECB-4565-79A4-3CA3-E1AE9EF65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F1CD4-0D1B-8441-29A7-B11DFA919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690" y="276635"/>
            <a:ext cx="10515600" cy="372294"/>
          </a:xfrm>
        </p:spPr>
        <p:txBody>
          <a:bodyPr>
            <a:normAutofit fontScale="90000"/>
          </a:bodyPr>
          <a:lstStyle/>
          <a:p>
            <a:r>
              <a:rPr lang="en-GB" sz="3600" i="1" dirty="0">
                <a:solidFill>
                  <a:srgbClr val="002060"/>
                </a:solidFill>
                <a:latin typeface="+mn-lt"/>
              </a:rPr>
              <a:t>Conclusion and Future Works</a:t>
            </a:r>
            <a:endParaRPr lang="en-BE" sz="3600" i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6972F9-17C8-7627-F878-58C9B2D2FCBE}"/>
              </a:ext>
            </a:extLst>
          </p:cNvPr>
          <p:cNvSpPr txBox="1"/>
          <p:nvPr/>
        </p:nvSpPr>
        <p:spPr>
          <a:xfrm>
            <a:off x="1133519" y="1279693"/>
            <a:ext cx="9488129" cy="3554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200"/>
            </a:pPr>
            <a:r>
              <a:rPr lang="en-GB" sz="2000" dirty="0"/>
              <a:t>We operationalize existing metadata quality metrics to analyse </a:t>
            </a:r>
            <a:r>
              <a:rPr lang="en-GB" sz="2000" b="1" dirty="0"/>
              <a:t>semantic keyword quality</a:t>
            </a:r>
            <a:r>
              <a:rPr lang="en-GB" sz="2000" dirty="0"/>
              <a:t> in terms of </a:t>
            </a:r>
            <a:r>
              <a:rPr lang="en-GB" sz="2000" i="1" dirty="0">
                <a:solidFill>
                  <a:srgbClr val="0070C0"/>
                </a:solidFill>
              </a:rPr>
              <a:t>semantic relevance </a:t>
            </a:r>
            <a:r>
              <a:rPr lang="en-GB" sz="2000" dirty="0"/>
              <a:t>and </a:t>
            </a:r>
            <a:r>
              <a:rPr lang="en-GB" sz="2000" i="1" dirty="0">
                <a:solidFill>
                  <a:srgbClr val="0070C0"/>
                </a:solidFill>
              </a:rPr>
              <a:t>semantic completeness</a:t>
            </a:r>
            <a:r>
              <a:rPr lang="en-GB" sz="2000" dirty="0"/>
              <a:t>. 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200"/>
            </a:pPr>
            <a:r>
              <a:rPr lang="en-GB" sz="2000" dirty="0"/>
              <a:t>Keywords are </a:t>
            </a:r>
            <a:r>
              <a:rPr lang="en-GB" sz="2000" i="1" dirty="0"/>
              <a:t>generally semantically </a:t>
            </a:r>
            <a:r>
              <a:rPr lang="en-GB" sz="2000" dirty="0"/>
              <a:t>related to metadata, but keyword coverage of metadata concepts is limited. Semantic relevance and semantic completeness capture different aspects of keyword quality.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200"/>
            </a:pPr>
            <a:r>
              <a:rPr lang="en-GB" sz="2000" b="1" i="1" dirty="0"/>
              <a:t>Current Limitation: </a:t>
            </a:r>
            <a:r>
              <a:rPr lang="en-GB" sz="2000" dirty="0"/>
              <a:t>Semantic completeness currently relies on </a:t>
            </a:r>
            <a:r>
              <a:rPr lang="en-GB" sz="2000" i="1" dirty="0"/>
              <a:t>automatically extracted metadata </a:t>
            </a:r>
            <a:r>
              <a:rPr lang="en-GB" sz="2000" dirty="0"/>
              <a:t>concepts rather than </a:t>
            </a:r>
            <a:r>
              <a:rPr lang="en-GB" sz="2000" i="1" dirty="0"/>
              <a:t>human-validated concepts.</a:t>
            </a:r>
            <a:endParaRPr lang="en-GB" sz="2000" b="1" i="1" dirty="0"/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200"/>
            </a:pPr>
            <a:r>
              <a:rPr lang="en-GB" sz="2000" b="1" i="1" dirty="0"/>
              <a:t>Next steps: </a:t>
            </a:r>
            <a:r>
              <a:rPr lang="en-GB" sz="2000" dirty="0"/>
              <a:t>develop a human-annotated reference dataset, validate computational SKQ against human judgments, and investigate whether higher SKQ improves dataset discoverability and retrieval.</a:t>
            </a:r>
            <a:endParaRPr lang="en-GB" sz="2000" b="1" i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601144-F8D6-3834-C6F3-B19AA667A3D3}"/>
              </a:ext>
            </a:extLst>
          </p:cNvPr>
          <p:cNvSpPr txBox="1"/>
          <p:nvPr/>
        </p:nvSpPr>
        <p:spPr>
          <a:xfrm>
            <a:off x="1032387" y="764256"/>
            <a:ext cx="101272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i="1" dirty="0">
                <a:solidFill>
                  <a:srgbClr val="7030A0"/>
                </a:solidFill>
              </a:rPr>
              <a:t>Summary</a:t>
            </a:r>
            <a:endParaRPr lang="en-BE" sz="2000" b="1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AF20E9-AA6B-D11D-0274-AC52A739A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BE" b="1" dirty="0"/>
              <a:t>15/09/2026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B745E3-6C84-6571-1E57-01B0182C8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CF0F1-4288-4E20-A5EE-551BC0760B6A}" type="slidenum">
              <a:rPr lang="en-BE" b="1" smtClean="0"/>
              <a:t>16</a:t>
            </a:fld>
            <a:endParaRPr lang="en-BE" b="1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2D769E4-A519-B387-C9E5-3EF7BE011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b="1" dirty="0"/>
              <a:t>NXDG 2026 -Ghent, Belgium</a:t>
            </a:r>
            <a:endParaRPr lang="en-BE" b="1" dirty="0"/>
          </a:p>
        </p:txBody>
      </p:sp>
    </p:spTree>
    <p:extLst>
      <p:ext uri="{BB962C8B-B14F-4D97-AF65-F5344CB8AC3E}">
        <p14:creationId xmlns:p14="http://schemas.microsoft.com/office/powerpoint/2010/main" val="3698124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45BDD-B5A1-02ED-5BE9-E69CE1D78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4ED0B-0825-3BD0-99D8-B1772F7D3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690" y="276635"/>
            <a:ext cx="10515600" cy="372294"/>
          </a:xfrm>
        </p:spPr>
        <p:txBody>
          <a:bodyPr>
            <a:normAutofit fontScale="90000"/>
          </a:bodyPr>
          <a:lstStyle/>
          <a:p>
            <a:r>
              <a:rPr lang="en-GB" sz="3600" i="1" dirty="0">
                <a:solidFill>
                  <a:srgbClr val="002060"/>
                </a:solidFill>
                <a:latin typeface="+mn-lt"/>
              </a:rPr>
              <a:t>Acknowledgements and Availability of Resources</a:t>
            </a:r>
            <a:endParaRPr lang="en-BE" sz="3600" i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64F6AF-20D0-B959-B37C-9D0BD30BF5D7}"/>
              </a:ext>
            </a:extLst>
          </p:cNvPr>
          <p:cNvSpPr txBox="1"/>
          <p:nvPr/>
        </p:nvSpPr>
        <p:spPr>
          <a:xfrm>
            <a:off x="2353499" y="2315785"/>
            <a:ext cx="10408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rPr lang="en-GB" sz="2000" dirty="0">
                <a:solidFill>
                  <a:srgbClr val="0070C0"/>
                </a:solidFill>
              </a:rPr>
              <a:t>GitHub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8DDD91-C854-FBDF-9949-E09D2FC903B1}"/>
              </a:ext>
            </a:extLst>
          </p:cNvPr>
          <p:cNvSpPr txBox="1"/>
          <p:nvPr/>
        </p:nvSpPr>
        <p:spPr>
          <a:xfrm>
            <a:off x="926690" y="764256"/>
            <a:ext cx="101272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i="1" dirty="0">
                <a:solidFill>
                  <a:srgbClr val="7030A0"/>
                </a:solidFill>
              </a:rPr>
              <a:t>Acknowledgements</a:t>
            </a:r>
            <a:endParaRPr lang="en-BE" sz="20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AA6849-911B-BD00-6CCB-207F0843E3B9}"/>
              </a:ext>
            </a:extLst>
          </p:cNvPr>
          <p:cNvSpPr txBox="1"/>
          <p:nvPr/>
        </p:nvSpPr>
        <p:spPr>
          <a:xfrm>
            <a:off x="926690" y="1915675"/>
            <a:ext cx="101272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i="1" dirty="0">
                <a:solidFill>
                  <a:srgbClr val="7030A0"/>
                </a:solidFill>
              </a:rPr>
              <a:t>Availability of Resources</a:t>
            </a:r>
            <a:endParaRPr lang="en-BE" sz="20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26A07D-EAC1-CCE5-9E34-E50544E9EF15}"/>
              </a:ext>
            </a:extLst>
          </p:cNvPr>
          <p:cNvSpPr txBox="1"/>
          <p:nvPr/>
        </p:nvSpPr>
        <p:spPr>
          <a:xfrm>
            <a:off x="2209801" y="1159817"/>
            <a:ext cx="825137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2000" dirty="0"/>
              <a:t>This work was supported by the Fonds de la Recherche Scientifique – FNRS under Grant n° MIS F.4016.24.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F347FD1-315A-6C84-0584-F77FA9B69B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956" y="2715895"/>
            <a:ext cx="3222016" cy="322201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8E30DA9-4777-4BEC-BB13-24903C3D9BBC}"/>
              </a:ext>
            </a:extLst>
          </p:cNvPr>
          <p:cNvSpPr txBox="1"/>
          <p:nvPr/>
        </p:nvSpPr>
        <p:spPr>
          <a:xfrm>
            <a:off x="154584" y="6093744"/>
            <a:ext cx="69429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rPr lang="en-GB" sz="1600" dirty="0">
                <a:solidFill>
                  <a:srgbClr val="C00000"/>
                </a:solidFill>
              </a:rPr>
              <a:t>Link: https://github.com/DeperiasKerre/keyword_quality_eval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E201AF-3FFB-5ABF-7069-13E6B869A16E}"/>
              </a:ext>
            </a:extLst>
          </p:cNvPr>
          <p:cNvSpPr txBox="1"/>
          <p:nvPr/>
        </p:nvSpPr>
        <p:spPr>
          <a:xfrm>
            <a:off x="8112042" y="2363757"/>
            <a:ext cx="10408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rPr lang="en-GB" sz="2000" dirty="0" err="1">
                <a:solidFill>
                  <a:srgbClr val="0070C0"/>
                </a:solidFill>
              </a:rPr>
              <a:t>Zenodo</a:t>
            </a:r>
            <a:endParaRPr lang="en-GB" sz="2000" dirty="0">
              <a:solidFill>
                <a:srgbClr val="0070C0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F5D65D9-1106-A190-7052-C25DF09CC2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7486" y="2715895"/>
            <a:ext cx="3141013" cy="314101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CD2A645-F66D-E5F8-6B14-EA394742C2FB}"/>
              </a:ext>
            </a:extLst>
          </p:cNvPr>
          <p:cNvSpPr txBox="1"/>
          <p:nvPr/>
        </p:nvSpPr>
        <p:spPr>
          <a:xfrm>
            <a:off x="6879772" y="6093744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b="0" i="0" u="none" strike="noStrike" baseline="0" dirty="0">
                <a:solidFill>
                  <a:srgbClr val="C00000"/>
                </a:solidFill>
                <a:latin typeface="LibertinusSerif-Regular"/>
              </a:rPr>
              <a:t>https://doi.org/10.5281/zenodo.22108459</a:t>
            </a:r>
            <a:endParaRPr lang="en-BE" sz="1600" dirty="0">
              <a:solidFill>
                <a:srgbClr val="C00000"/>
              </a:solidFill>
            </a:endParaRPr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82D80202-F729-7E4A-5B68-3588264E3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BE" b="1" dirty="0"/>
              <a:t>15/09/2026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D832EA4-1DEC-B2FD-FADF-D72F06457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CF0F1-4288-4E20-A5EE-551BC0760B6A}" type="slidenum">
              <a:rPr lang="en-BE" b="1" smtClean="0"/>
              <a:t>17</a:t>
            </a:fld>
            <a:endParaRPr lang="en-BE" b="1" dirty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B6B8FCE2-F344-5B8D-D679-05F1656FB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b="1" dirty="0"/>
              <a:t>NXDG 2026 -Ghent, Belgium</a:t>
            </a:r>
            <a:endParaRPr lang="en-BE" b="1" dirty="0"/>
          </a:p>
        </p:txBody>
      </p:sp>
    </p:spTree>
    <p:extLst>
      <p:ext uri="{BB962C8B-B14F-4D97-AF65-F5344CB8AC3E}">
        <p14:creationId xmlns:p14="http://schemas.microsoft.com/office/powerpoint/2010/main" val="560943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allAtOnce"/>
      <p:bldP spid="4" grpId="0"/>
      <p:bldP spid="6" grpId="0"/>
      <p:bldP spid="10" grpId="0"/>
      <p:bldP spid="11" grpId="0"/>
      <p:bldP spid="1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6B3C614-A5F0-160C-1021-21248E90D436}"/>
              </a:ext>
            </a:extLst>
          </p:cNvPr>
          <p:cNvSpPr/>
          <p:nvPr/>
        </p:nvSpPr>
        <p:spPr bwMode="auto">
          <a:xfrm>
            <a:off x="2424251" y="2518005"/>
            <a:ext cx="828729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FF0000"/>
                </a:solidFill>
              </a:rPr>
              <a:t>Thanks for your attention. Q &amp; A.</a:t>
            </a:r>
            <a:endParaRPr lang="en-KE" sz="4000" dirty="0">
              <a:solidFill>
                <a:srgbClr val="FF0000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963368-A957-838B-A9F1-E3863B582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BE" b="1" dirty="0"/>
              <a:t>15/09/2026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C56B93-A7FA-5694-77C6-00CF47F35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CF0F1-4288-4E20-A5EE-551BC0760B6A}" type="slidenum">
              <a:rPr lang="en-BE" b="1" smtClean="0"/>
              <a:t>18</a:t>
            </a:fld>
            <a:endParaRPr lang="en-BE" b="1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AA17D9-6A0F-B822-B8C6-D0EB476BB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b="1" dirty="0"/>
              <a:t>NXDG 2026 -Ghent, Belgium</a:t>
            </a:r>
            <a:endParaRPr lang="en-BE" b="1" dirty="0"/>
          </a:p>
        </p:txBody>
      </p:sp>
    </p:spTree>
    <p:extLst>
      <p:ext uri="{BB962C8B-B14F-4D97-AF65-F5344CB8AC3E}">
        <p14:creationId xmlns:p14="http://schemas.microsoft.com/office/powerpoint/2010/main" val="21472178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1571</Words>
  <Application>Microsoft Office PowerPoint</Application>
  <PresentationFormat>Widescreen</PresentationFormat>
  <Paragraphs>181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Abadi ExtraLight</vt:lpstr>
      <vt:lpstr>Aptos</vt:lpstr>
      <vt:lpstr>Aptos Display</vt:lpstr>
      <vt:lpstr>Arial</vt:lpstr>
      <vt:lpstr>Calibri</vt:lpstr>
      <vt:lpstr>LibertinusSerif-Regular</vt:lpstr>
      <vt:lpstr>Office Theme</vt:lpstr>
      <vt:lpstr>Are the Provided Keywords on Open Data Portals Semantically Complete and Relevant? An Exploratory Study</vt:lpstr>
      <vt:lpstr>PowerPoint Presentation</vt:lpstr>
      <vt:lpstr>PowerPoint Presentation</vt:lpstr>
      <vt:lpstr>PowerPoint Presentation</vt:lpstr>
      <vt:lpstr>PowerPoint Presentation</vt:lpstr>
      <vt:lpstr>Introducing Semantic Keyword Quality</vt:lpstr>
      <vt:lpstr>Introducing Semantic Keyword Quality</vt:lpstr>
      <vt:lpstr>Introducing Semantic Keyword Quality</vt:lpstr>
      <vt:lpstr>Introducing Semantic Keyword Quality</vt:lpstr>
      <vt:lpstr>Analysing Semantic Keyword Quality</vt:lpstr>
      <vt:lpstr>Analysing Semantic Keyword Quality</vt:lpstr>
      <vt:lpstr>Analysing Semantic Keyword Quality</vt:lpstr>
      <vt:lpstr>Analysing Semantic Keyword Quality</vt:lpstr>
      <vt:lpstr>Analysing Semantic Keyword Quality</vt:lpstr>
      <vt:lpstr>Analysing Semantic Keyword Quality</vt:lpstr>
      <vt:lpstr>Conclusion and Future Works</vt:lpstr>
      <vt:lpstr>Acknowledgements and Availability of Resources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Kerre Deperias</dc:creator>
  <cp:lastModifiedBy>Kerre Deperias</cp:lastModifiedBy>
  <cp:revision>82</cp:revision>
  <dcterms:created xsi:type="dcterms:W3CDTF">2026-09-04T12:50:27Z</dcterms:created>
  <dcterms:modified xsi:type="dcterms:W3CDTF">2026-09-08T09:25:32Z</dcterms:modified>
</cp:coreProperties>
</file>